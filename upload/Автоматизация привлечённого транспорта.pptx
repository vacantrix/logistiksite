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од" id="{73e704b8-2207-2fe7-2b66-87f3d4961d7d}">
          <p14:sldIdLst>
            <p14:sldId id="256"/>
            <p14:sldId id="257"/>
          </p14:sldIdLst>
        </p14:section>
        <p14:section name="Проблема 1" id="{a9267567-e577-e08a-b4e0-664cd44f0d8e}">
          <p14:sldIdLst>
            <p14:sldId id="258"/>
          </p14:sldIdLst>
        </p14:section>
        <p14:section name="Решение 1" id="{7539eb11-9bde-b1f8-8afe-995e89cd7bc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Проблема 2" id="{63d36c0e-6ab2-a02c-516f-adb1ef78be2e}">
          <p14:sldIdLst>
            <p14:sldId id="267"/>
          </p14:sldIdLst>
        </p14:section>
        <p14:section name="Решение 2" id="{b38178a0-4211-0b09-6cec-7df44074ba54}">
          <p14:sldIdLst>
            <p14:sldId id="268"/>
            <p14:sldId id="269"/>
            <p14:sldId id="270"/>
            <p14:sldId id="271"/>
          </p14:sldIdLst>
        </p14:section>
        <p14:section name="Общая схема" id="{95601cb3-85b0-6d72-d871-e8646374a266}">
          <p14:sldIdLst>
            <p14:sldId id="272"/>
            <p14:sldId id="273"/>
          </p14:sldIdLst>
        </p14:section>
        <p14:section name="Техническая база" id="{7786b7f4-6c98-9abc-8a77-9005bc2fa080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Внедрение" id="{894c6e92-d749-736c-5f2e-b9fe24c4d923}">
          <p14:sldIdLst>
            <p14:sldId id="287"/>
          </p14:sldIdLst>
        </p14:section>
        <p14:section name="Приложение" id="{435d7dce-fc44-7b7f-db76-9196729d8ea4}">
          <p14:sldIdLst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Покажу, как сейчас оформляется заявка на привлечённый транспорт, какие две проблемы за этим стоят и как их решить: своя площадка для агентов, где они сами берут заявки через торги и загружают документы, нейросеть для проверки и автоматический перенос данных в 1С с формированием документов.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одной заявки сегодня: логист ищет перевозчика и согласует ставку в переписке, данные приходят на почту частями, логист собирает комплект, проверяет сканы глазами, перепечатывает в 1С и вручную оформляет документы. Первые три шага — проблема работы с агентами, остальные три — проблема ручного переноса и сверки.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условный, но типичный: логист предлагает заявку договорным перевозчикам в мессенджере, ставку согласует в переписке, затем документы приходят частями, нечитаемые сканы приходится запрашивать заново. Рынок ставок не виден, агент не видит статус — отсюда постоянная переписка.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— своя площадка. Логист публикует заявки, перевозчики, которых мы заранее проверили и с которыми заключили договор, сами выбирают их и делают ставки. Логист согласует победителя. Дальше победитель загружает документы, их проверяет нейросеть. Три режима: фиксированная ставка для срочных заявок, торги на понижение и закрытые 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агент видит площадку: открытые заявки с маршрутом, грузом, датой погрузки, режимом и текущей ставкой. Он фильтрует заявки, делает ставку или берёт заявку по фиксированной цене и получает уведомление о результате. Площадка закрытая: доступ выдаём только перевозчикам, которых заранее проверили и с которыми заключили договор, — это те же перевозчики, с которыми сейчас работаем через мессенджер.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логист видит итоги торгов: стартовая ставка, ставки участников и сколько заявок каждый перевозчик уже брал. Рейтингов и оценок на старте не вводим — только история взятых заявок: её видит логист, а агент — только свою. Если ставок нет — ставка поднимается или заявка предлагается напрямую.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Площадка даёт то, чего сейчас нет: экономию к стартовой ставке, реальные ставки по направлениям, активность перевозчиков и историю взятых заявок. Рейтингов на старте не вводим. Запускаем аккуратно: сначала фиксированные ставки, торги — когда накопится история цен; правила и порядок отказа — в договоре; номер заявки — сквозной.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победы заявка появляется у агента в «Моих заявках». Агент указывает водителя и машину, загружает документы, нейросеть сразу проверяет их и возвращает понятный статус. Сомнительные случаи всегда смотрит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способа указать водителя и машину по выигранным заявкам. Одиночная заявка — для одной машины. Массовая — из Excel-проформы: одна строка — один водитель и автомобиль; данные Excel затем сверяются с фото документов. Скриншоты — макет будущего интерфейса.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идёт по шагам: качество фото, тип документа, распознавание, сверка, программные правила. На каждом шаге понятно, что будет при ошибке. Начинаем с бесплатного PaddleOCR без обучения; готовое SDK — запасной вариант, если на реальных фото не хватит качества.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Агент видит жизненный цикл заявки от черновика до передачи в 1С, догружает документы в ту же заявку до срока и получает уведомления. Это убирает сообщения и письма «что с заявкой». Скриншот — макет будущего интерфейса.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проблема: данные со сканов логист вручную переносит в заявку, 1С, пакет на пропуск, документы на перевозку, ЭТрН и отчёт. Отсюда время, ошибки и чужие данные из старых копий.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Решение: нейросеть уже распознала данные, логист только сверяет и подтверждает, дальше данные попадают в 1С и всё формируется по шаблонам. Принцип: нейросеть читает, алгоритм формирует.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работа логиста: фото документа рядом с распознанными полями, расхождения подсвечены. Логист подтверждает или возвращает заявку агенту с причиной. Это эскиз, окончательный вид определяется при разработке.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Справочник — основа: водитель, тягач и прицеп заносятся один раз и дальше выбираются из списка. Используем типовые объекты 1С:ERP, доработка — только если их не хватит.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подтверждённой заявки 1С формирует пакет на пропуск в формате порта и других объектов, документы на перевозку, ЭТрН через модуль Контура и отчёт для бухгалтерии. Всё — по шаблонам, без нейросети.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Общий путь заявки по участникам. Заявка из 1С публикуется на площадке, агенты делают ставки, логист согласует победителя. Победитель загружает водителя и фото, нейросеть проверяет и при ошибке сразу возвращает причину агенту. Логист сверяет и подтверждает, данные уходят в 1С, откуда формируются пакет на пропуск, ЭТрН и отчёт.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Технически: агенты работают только с веб-платформой — там и площадка с торгами, и кабинет с документами; нейросеть и 1С — во внутренней сети, документы не покидают контур завода. Связь с 1С — по API площадки, обмен запускает 1С; ЭТрН — модулем Контура. Подробно — в технических блоках дальше.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Простыми словами: PaddleOCR читает фото так же, как человек. На примере — образец ВУ с выдуманными данными. Первая нейросеть находит на снимке все строки с текстом и обводит их рамками. Каждую строку вырезает и выпрямляет, вторая нейросеть проверяет, не вверх ногами ли она. Третья нейросеть читает строку по буквам и говорит, насколько уверена. Все три нейросети уже обучены разработчиками — это открытый бесплатный проект компании Baidu; мы просто скачиваем готовые модели, около 100 МБ, и всё работает на нашем компьютере без интернета. Обучать ничего не нужно. Дальше — наш обычный код: понимает, что это за документ, где какое поле, сверяет с заявкой и ставит статус.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работает уверенность. Третья нейросеть читает строку маленькими шагами и на каждом шаге прикидывает, на какой символ похож этот кусочек: например, на «В» — на 68 процентов, на «Б» — на 27. Берётся самый похожий вариант, а его процент и есть уверенность в букве. Уверенность всей строки — это просто среднее по всем буквам: в строке «ИВАН ИВАНОВИЧ» три буквы были на 68–77 процентов, остальные выше 83, в среднем 0,88. Пробел нейросеть пропустила: за пробел было 41 процент, против — 59. Пример с реального ВУ: «РОМАН СЕРГЕЕВИЧ» получил всего 0,64. Причина — русские и латинские буквы Р, Н, С, В выглядят одинаково, и нейросеть делит голоса почти поровну, у буквы «С» — 50 на 49. Ошибки по смыслу нет: наш код меняет латиницу на кириллицу, а заявка и латинская строка под полем подтверждают значение. Поэтому уверенность для нас — подсказка, а окончательное решение принимают правила и подтверждения. Цифры сняты с настоящей работы PaddleOCR на нашем ноутбуке.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по документу: сначала резкость фото, затем уверенность каждого поля и правила. Ниже 0,60 — новое фото. От 0,60 до 0,95 решают подтверждения: от 0,80 хватает одного (заявка, строгий формат, латинская строка на ВУ или вторая копия номера на полях паспорта), от 0,60 нужны два; иначе — оператору. От 0,95 — принимается. Расхождение с заявкой при высокой уверенности — отказ с причиной. Пример: имя и отчество в ВУ прочитаны на 0,64 — это зона двух подтверждений; совпали заявка и латинская строка, поэтому поле принято без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Реальное фото паспорта, снятое на телефон, без обучения нейросети. Все семь полей прочитаны и прошли проверки, все оценки от 0,95. ФИО — с настройкой «только русские буквы»: фамилия 0,95 → 0,99, имя 0,99 → 1,00, отчество 0,93 → 0,98. Серию и номер код берёт с полей страницы: вертикальную надпись вырезает, поворачивает, увеличивает и читает ещё раз — обе копии на полях совпали между собой и с заявкой. Строки внизу страницы не используются: мы их никуда не вводим.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ВУ ушло на ручную проверку только из-за категорий: прочитаны B, B1, M. Это сделало повторное чтение поля 9 крупнее — первый проход видел только B1. Категорий C и CE в этом ВУ нет, решение за человеком. Остальные 6 полей приняты: имя и отчество с настройкой «только русские буквы» — 0,95, дата выдачи плюс 10 лет совпала с датой окончания. Регистрация: дата и код приняты, адрес на штампе прочитан с ошибками — его смотрит оператор.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Реальные фото показали «передать дальше» и «ручную проверку». Остальные исходы проверили на образцах с выдуманными данными. Размытое фото отсекается проверкой резкости — агент сразу получает запрос на новое фото. Образец ВУ, проверенный против чужой заявки, получает отказ: фамилия, дата рождения и номер не совпадают. СТС: госномер и VIN прочитаны почти без сомнений и совпали с заявкой. Все образцы получили верный статус.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Запуск — пять шагов, обучение в них не входит. Установка проверена на ноутбуке: две команды, модели скачались сами при первом запуске. Справа — те самые команды, которыми мы проверяли фото: скрипт получает фото и заявку и пишет результат в JSON. Шаблоны паспорта, ВУ, СТС и регистрации уже написаны и проверены на реальных фото. Следующий шаг — проверка на 50–100 реальных фото на сервере завода; если качества не хватит, тогда дообучение или готовое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поднять качество без обучения. Первое уже работает в коде: в полях ФИО голоса латинских двойников переходят к русским буквам, а остальная латиница запрещается. Нейросеть та же. «РОМАН СЕРГЕЕВИЧ» в ВУ поднялся с 0,64 до 0,95, ФИО в паспорте — до 0,98–0,99. На адрес со штампа это не включаем: в пробном прогоне оценка выросла, а текст остался неверным, поэтому для штампов — сверка с адресом из заявки. Остальные меры: сверка вместо чтения, повторное чтение трудных зон крупнее, модули выпрямления и поворота, словари и форматы, проверка фото прямо в кабинете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Дообучение — следующий шаг, если настроек не хватит; для старта оно не нужно. Главное: данные для него набираются сами. Каждая заявка, которую логист сверил и подтвердил, — это фото плюс верные данные в 1С. Код вырезает строки с фото и подписывает их верным текстом — ручная разметка не нужна. По рекомендации PaddleOCR для дообучения чтения нужно от пяти тысяч строк, для поиска строк — от пятисот фото; с одного документа получается около десяти проверенных строк, то есть примерно пятьсот документов. Обучаем только на сервере завода, новая версия идёт в работу, только если ошибок стало меньше, а прежняя остаётся для отката.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Площадка и 1С обмениваются по API в формате JSON. Обмен запускает 1С регламентным заданием раз в 1–2 минуты: отправляет заявки, перевозчиков с договором и статусы, забирает победителя, данные водителя и машины, сканы и статусы проверки. Во внутреннюю сеть нет входящих подключений; номер заявки 1С — сквозной ключ; при сбое обмен повторяется.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Площадка даёт семь методов API. Все вызывает 1С: публикует и меняет заявки, передаёт перевозчиков с договором, забирает события и проверенные данные, скачивает сканы, сообщает статусы. Формат — JSON, версия в адресе, описание — по стандарту OpenAPI, чтобы программист 1С сразу писал обмен. Справа — пример ответа по проверенной заявке.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Реестр — основа системы: одна запись — один рейс, одна машина. В записи четыре группы данных: рейс, исполнитель, деньги, документы. Статус меняется строго по порядку от «Создана» до «Закрыта». В 1С это документ «Заявка на привлечённый транспорт», регистр затрат по рейсам и отчёты на типовом конструкторе.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отчёты строились сами, реестр ведётся по шести правилам: одна запись — одна машина, сквозной номер, только справочники, статус по факту, деньги по рейсу, закрытие месяца. Тогда из реестра без ручной сборки получаются затраты, экономия торгов, средние ставки, история перевозчиков и рейсы в работе. Начать: заполнить справочники, перенести открытые заявки, все новые — только через реестр.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Внедрение в пять этапов. Первым — реестр и справочники в 1С, на них держится всё остальное. Параллельно — API и площадка с кабинетом агента. Затем распознавание на PaddleOCR без обучения: шаблоны, правила, проверка на реальных фото и пилот на одном направлении. Торги и полный набор отчётов — после пилота, когда накопится история ставок.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Сканы паспортов — персональные данные; поэтому нейросеть и 1С работают внутри завода, а доступ разграничен по ролям.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организационные риски — перевозчики продолжат слать данные на почту и отказы после победы; Главный технический риск — качество распознавания, поэтому сомнительные случаи всегда смотрит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известна только стоимость модуля Контура; остальное — после выбора исполнителя.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Первичные источники: законы и разъяснения, документация 1С, страницы производителей. Цены Контура — на октябрь 2026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0" y="0"/>
            <a:ext cx="5745175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3816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3816" y="1554480"/>
            <a:ext cx="5394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13816" y="356616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94360" y="6419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АЭМЗ · Отдел логистики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94360" y="6419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АЭМЗ · Отдел логистики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3816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ОТДЕЛ ЛОГИСТИКИ · АЭМЗ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3816" y="155448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Автоматизация работы с привлечённым транспортом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13816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Площадка для агентов перевозчиков с торгами по заявкам, нейросеть и 1С:ERP: данные вводятся один раз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5074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Котельников Роман Сергеевич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логист, отдел логистики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Октябрь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2 ПРОБЛЕМЫ — 2 РЕШЕНИЯ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17830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85623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Проблема: работа с агентами — через мессенджер и почту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Решение: своя площадка: торги по заявкам, документы, нейросеть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3383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45643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Проблема: ручной перенос данных со сканов и сверка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Решение: данные сами попадают в 1С и документы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 реестр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5029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все заявки, ставки, документы и затраты — в 1С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ВВОД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Сегодня заявку собирают и перепечатывают вручную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696212" cy="2606040"/>
          </a:xfrm>
          <a:prstGeom prst="roundRect">
            <a:avLst>
              <a:gd name="adj" fmla="val 431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83080"/>
            <a:ext cx="475488" cy="47548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59" y="1887687"/>
            <a:ext cx="266273" cy="26627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15084" y="18562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15084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2404872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Предлагает заявку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2898648"/>
            <a:ext cx="136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Пишет перевозчикам в мессенджере, согласует ставку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" y="3794760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мессенджер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55164" y="1600200"/>
            <a:ext cx="1696212" cy="2606040"/>
          </a:xfrm>
          <a:prstGeom prst="roundRect">
            <a:avLst>
              <a:gd name="adj" fmla="val 431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19756" y="1783080"/>
            <a:ext cx="475488" cy="47548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63" y="1887687"/>
            <a:ext cx="266273" cy="26627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75888" y="18562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675888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619756" y="2404872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Агент шлёт данные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619756" y="2898648"/>
            <a:ext cx="136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Проформа Excel и сканы паспорта, ВУ, СТС — частями, в разных письмах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619756" y="3794760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619756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почта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315968" y="1600200"/>
            <a:ext cx="1696212" cy="2606040"/>
          </a:xfrm>
          <a:prstGeom prst="roundRect">
            <a:avLst>
              <a:gd name="adj" fmla="val 431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80560" y="1783080"/>
            <a:ext cx="475488" cy="47548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167" y="1887687"/>
            <a:ext cx="266273" cy="266273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536692" y="18562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5536692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480560" y="2404872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Собирает комплект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480560" y="2898648"/>
            <a:ext cx="136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Ищет файлы по письмам, запрашивает недостающее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480560" y="3794760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480560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вручную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76772" y="1600200"/>
            <a:ext cx="1696212" cy="2606040"/>
          </a:xfrm>
          <a:prstGeom prst="roundRect">
            <a:avLst>
              <a:gd name="adj" fmla="val 431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41364" y="1783080"/>
            <a:ext cx="475488" cy="47548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971" y="1887687"/>
            <a:ext cx="266273" cy="266273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397496" y="18562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397496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6341364" y="2404872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Проверяет глазами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341364" y="2898648"/>
            <a:ext cx="136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Качество сканов, совпадение ФИО и номеров в документах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341364" y="3794760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6341364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вручную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8037576" y="1600200"/>
            <a:ext cx="1696212" cy="2606040"/>
          </a:xfrm>
          <a:prstGeom prst="roundRect">
            <a:avLst>
              <a:gd name="adj" fmla="val 431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8202168" y="1783080"/>
            <a:ext cx="475488" cy="47548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775" y="1887687"/>
            <a:ext cx="266273" cy="266273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9258300" y="18562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925830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8202168" y="2404872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Перепечатывает в 1С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8202168" y="2898648"/>
            <a:ext cx="136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ФИО, паспорт, ВУ, госномер; водителя — заново каждый раз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8202168" y="3794760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8202168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вручную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9898380" y="1600200"/>
            <a:ext cx="1696212" cy="2606040"/>
          </a:xfrm>
          <a:prstGeom prst="roundRect">
            <a:avLst>
              <a:gd name="adj" fmla="val 431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10062972" y="1783080"/>
            <a:ext cx="475488" cy="47548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7579" y="1887687"/>
            <a:ext cx="266273" cy="266273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11119104" y="18562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11119104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10062972" y="2404872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Оформляет документы</a:t>
            </a:r>
            <a:endParaRPr lang="en-US" sz="1300" dirty="0"/>
          </a:p>
        </p:txBody>
      </p:sp>
      <p:sp>
        <p:nvSpPr>
          <p:cNvPr id="55" name="Text 47"/>
          <p:cNvSpPr txBox="1"/>
          <p:nvPr/>
        </p:nvSpPr>
        <p:spPr>
          <a:xfrm>
            <a:off x="10062972" y="2898648"/>
            <a:ext cx="136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Пакет на пропуск, документы из копий, ЭТрН, отчёт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10062972" y="3794760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10062972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вручную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594360" y="4389120"/>
            <a:ext cx="5417820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59" name="Text 51"/>
          <p:cNvSpPr txBox="1"/>
          <p:nvPr/>
        </p:nvSpPr>
        <p:spPr>
          <a:xfrm>
            <a:off x="822960" y="438912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ПРОБЛЕМА 1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Работа с агентами — через мессенджер и почту</a:t>
            </a:r>
            <a:endParaRPr lang="en-US" sz="1200" dirty="0"/>
          </a:p>
        </p:txBody>
      </p:sp>
      <p:sp>
        <p:nvSpPr>
          <p:cNvPr id="60" name="Shape 52"/>
          <p:cNvSpPr/>
          <p:nvPr/>
        </p:nvSpPr>
        <p:spPr>
          <a:xfrm>
            <a:off x="6176772" y="4389120"/>
            <a:ext cx="5417820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61" name="Text 53"/>
          <p:cNvSpPr txBox="1"/>
          <p:nvPr/>
        </p:nvSpPr>
        <p:spPr>
          <a:xfrm>
            <a:off x="6405372" y="438912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ПРОБЛЕМА 2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Ручной перенос данных со сканов и сверка</a:t>
            </a:r>
            <a:endParaRPr lang="en-US" sz="1200" dirty="0"/>
          </a:p>
        </p:txBody>
      </p:sp>
      <p:sp>
        <p:nvSpPr>
          <p:cNvPr id="62" name="Shape 54"/>
          <p:cNvSpPr/>
          <p:nvPr/>
        </p:nvSpPr>
        <p:spPr>
          <a:xfrm>
            <a:off x="594360" y="5440680"/>
            <a:ext cx="11000232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804672" y="5559552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314" y="5670194"/>
            <a:ext cx="281635" cy="281635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1508760" y="544068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≈5 минут уходит только на ручной ввод одной заявки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без учёта переписки, сбора файлов и оформления документов · оценка отдела логистики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ПРОБЛЕМА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С агентами работаем через мессенджер и почту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257800" cy="4663440"/>
          </a:xfrm>
          <a:prstGeom prst="roundRect">
            <a:avLst>
              <a:gd name="adj" fmla="val 156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Переписка по заявке на 3 машины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737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условный пример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4672" y="2176272"/>
            <a:ext cx="4846320" cy="640080"/>
          </a:xfrm>
          <a:prstGeom prst="roundRect">
            <a:avLst>
              <a:gd name="adj" fmla="val 8571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1832" y="21762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09:05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536192" y="21762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Логист → 4 перевозчика · мессенджер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«Нужны 3 машины на порт на 20.10 — какая ставка?»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" y="2907792"/>
            <a:ext cx="484632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41832" y="2907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09:50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536192" y="29077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Перевозчик Б · мессенджер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«Могу 2 машины по 92 000 ₽»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" y="3639312"/>
            <a:ext cx="484632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41832" y="36393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10:20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536192" y="36393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Перевозчик А · мессенджер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«Возьмём все 3 по 88 000 ₽», документы пришлю на почту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" y="4370832"/>
            <a:ext cx="4846320" cy="640080"/>
          </a:xfrm>
          <a:prstGeom prst="roundRect">
            <a:avLst>
              <a:gd name="adj" fmla="val 8571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41832" y="437083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13:30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536192" y="43708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Логист → Перевозчик А · почта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«Паспорт водителя 1 не читается, пришлите заново»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672" y="5102352"/>
            <a:ext cx="484632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41832" y="510235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16:20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536192" y="51023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Перевозчик А · почта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Новое фото паспорта, СТС, документы водителей 2 и 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" y="5852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Заявки — в мессенджере, документы — на почте, всё вручную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70078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12280" y="16002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Заявки раздаются вручную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812280" y="1901952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Каждую заявку логист предлагает договорным перевозчикам в мессенджере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172200" y="2514600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615184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12280" y="25146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Ставка непрозрачна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6812280" y="2816352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Цену согласуют в переписке — сравнить предложения и увидеть рынок нельзя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172200" y="3429000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3529584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812280" y="34290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Документы приходят частями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6812280" y="3730752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Проформа и сканы — в разных письмах; требования объекта агент узнаёт из переписки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172200" y="4343400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4443984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812280" y="43434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Агент не видит статус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6812280" y="4645152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Принята ли заявка и что исправить — только через мессенджер и почту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6172200" y="5257800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5358384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812280" y="52578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Сканы паспортов лежат в почте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6812280" y="5559552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Персональные данные водителей хранятся в почте и на личных дисках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Своя площадка для агентов перевозчиков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6310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2631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Логист публикует заявку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Направление, груз, тоннаж, окно погрузки, стартовая ставка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84094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58414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1294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37" y="1848002"/>
            <a:ext cx="281635" cy="28163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90365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290365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41294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Агенты делают ставки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041294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Площадка закрытая: только проверенные перевозчики с договором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48149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2469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5349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91" y="1848002"/>
            <a:ext cx="281635" cy="28163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54419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554419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305349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Логист согласует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305349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Выбирает победителя, видит историю заявок перевозчика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112203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86523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69403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46" y="1848002"/>
            <a:ext cx="281635" cy="28163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818474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18474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569403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Агент загружает документы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7569403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Водитель, машина и фото — в выигранную заявку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376258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650578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833458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1848002"/>
            <a:ext cx="281635" cy="28163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1082528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1108252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833458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Нейросеть проверяет</a:t>
            </a:r>
            <a:endParaRPr lang="en-US" sz="1350" dirty="0"/>
          </a:p>
        </p:txBody>
      </p:sp>
      <p:sp>
        <p:nvSpPr>
          <p:cNvPr id="42" name="Text 35"/>
          <p:cNvSpPr txBox="1"/>
          <p:nvPr/>
        </p:nvSpPr>
        <p:spPr>
          <a:xfrm>
            <a:off x="9833458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Дальше — сверка логистом и передача в 1С</a:t>
            </a:r>
            <a:endParaRPr lang="en-US" sz="1150" dirty="0"/>
          </a:p>
        </p:txBody>
      </p:sp>
      <p:sp>
        <p:nvSpPr>
          <p:cNvPr id="43" name="Text 36"/>
          <p:cNvSpPr txBox="1"/>
          <p:nvPr/>
        </p:nvSpPr>
        <p:spPr>
          <a:xfrm>
            <a:off x="594360" y="38221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ТРИ РЕЖИМА РАЗМЕЩЕНИЯ ЗАЯВКИ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594360" y="4114800"/>
            <a:ext cx="3544824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777240" y="4279392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379976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371600" y="4279392"/>
            <a:ext cx="263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Фиксированная ставка</a:t>
            </a:r>
            <a:endParaRPr lang="en-US" sz="1400" dirty="0"/>
          </a:p>
        </p:txBody>
      </p:sp>
      <p:sp>
        <p:nvSpPr>
          <p:cNvPr id="48" name="Text 40"/>
          <p:cNvSpPr txBox="1"/>
          <p:nvPr/>
        </p:nvSpPr>
        <p:spPr>
          <a:xfrm>
            <a:off x="777240" y="4828032"/>
            <a:ext cx="3179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Заявку берёт первый согласившийся — для срочных перевозок</a:t>
            </a:r>
            <a:endParaRPr lang="en-US" sz="1150" dirty="0"/>
          </a:p>
        </p:txBody>
      </p:sp>
      <p:sp>
        <p:nvSpPr>
          <p:cNvPr id="49" name="Shape 41"/>
          <p:cNvSpPr/>
          <p:nvPr/>
        </p:nvSpPr>
        <p:spPr>
          <a:xfrm>
            <a:off x="4322064" y="4114800"/>
            <a:ext cx="3544824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504944" y="4279392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5528" y="4379976"/>
            <a:ext cx="256032" cy="25603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5099304" y="4279392"/>
            <a:ext cx="263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Торги на понижение</a:t>
            </a:r>
            <a:endParaRPr lang="en-US" sz="1400" dirty="0"/>
          </a:p>
        </p:txBody>
      </p:sp>
      <p:sp>
        <p:nvSpPr>
          <p:cNvPr id="53" name="Text 44"/>
          <p:cNvSpPr txBox="1"/>
          <p:nvPr/>
        </p:nvSpPr>
        <p:spPr>
          <a:xfrm>
            <a:off x="4504944" y="4828032"/>
            <a:ext cx="3179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До срока агенты снижают ставку, лучшая видна всем участникам</a:t>
            </a:r>
            <a:endParaRPr lang="en-US" sz="1150" dirty="0"/>
          </a:p>
        </p:txBody>
      </p:sp>
      <p:sp>
        <p:nvSpPr>
          <p:cNvPr id="54" name="Shape 45"/>
          <p:cNvSpPr/>
          <p:nvPr/>
        </p:nvSpPr>
        <p:spPr>
          <a:xfrm>
            <a:off x="8049768" y="4114800"/>
            <a:ext cx="3544824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8232648" y="4279392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3232" y="4379976"/>
            <a:ext cx="256032" cy="25603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827008" y="4279392"/>
            <a:ext cx="263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Закрытые ставки</a:t>
            </a:r>
            <a:endParaRPr lang="en-US" sz="1400" dirty="0"/>
          </a:p>
        </p:txBody>
      </p:sp>
      <p:sp>
        <p:nvSpPr>
          <p:cNvPr id="58" name="Text 48"/>
          <p:cNvSpPr txBox="1"/>
          <p:nvPr/>
        </p:nvSpPr>
        <p:spPr>
          <a:xfrm>
            <a:off x="8232648" y="4828032"/>
            <a:ext cx="3179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Участники не видят цены друг друга — защита от сговора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594360" y="5577840"/>
            <a:ext cx="11000232" cy="621792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733288"/>
            <a:ext cx="310896" cy="310896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1307592" y="565099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ГЛАВНОЕ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Логист не ищет перевозчиков и не торгуется в переписке — он согласует лучшее предложение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 · ПЛОЩАДКА ЗАЯВОК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Агент выбирает заявку и делает ставку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" y="1581912"/>
            <a:ext cx="7119411" cy="402278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screen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7082835" cy="39862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344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макет интерфейса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5715000"/>
            <a:ext cx="7086600" cy="502920"/>
          </a:xfrm>
          <a:prstGeom prst="roundRect">
            <a:avLst>
              <a:gd name="adj" fmla="val 10909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3387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5715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Площадка закрытая: доступ только у перевозчиков, которых мы заранее проверили и с которыми заключили договор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01000" y="16002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00100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458200" y="160020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Выбирает заявки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458200" y="196596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Фильтры по направлению, дате и типу ТС; видны окно погрузки и требования объекта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01000" y="26974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010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458200" y="269748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Делает ставку или берёт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306324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При фиксированной ставке — одной кнопкой, в торгах — своя цена до срока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01000" y="37947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0010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458200" y="379476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Получает результат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8458200" y="41605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Уведомление о победе; в «Моих заявках» — документы и своя история взятых заявок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01000" y="5074920"/>
            <a:ext cx="3593592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229600" y="507492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Агенты сами берут заявки — рассылать их в мессенджере больше не нужно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 · СОГЛАСОВАНИЕ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Логист согласует победителя торгов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" y="1581912"/>
            <a:ext cx="7115174" cy="402278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screen-bi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7078598" cy="39862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344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макет интерфейса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5715000"/>
            <a:ext cx="7086600" cy="502920"/>
          </a:xfrm>
          <a:prstGeom prst="roundRect">
            <a:avLst>
              <a:gd name="adj" fmla="val 10909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3387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5715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История взятых заявок перевозчика видна только логисту; агент видит только свою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01000" y="16002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00100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458200" y="160020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История перевозчика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458200" y="196596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Рядом со ставкой — сколько заявок перевозчик уже брал; подробная история — по клику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01000" y="26974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010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458200" y="269748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Если ставок нет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306324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Логист поднимает стартовую ставку или предлагает заявку перевозчику напрямую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01000" y="37947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0010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458200" y="379476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Отказ после победы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8458200" y="41605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Заявка возвращается на площадку; порядок отказа прописан в договоре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01000" y="5074920"/>
            <a:ext cx="3593592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229600" y="507492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ИТОГ</a:t>
            </a:r>
            <a:endParaRPr lang="en-US" sz="120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Заявка закреплена за победителем, остальные участники получают уведомление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 · ЭФФЕКТ ПЛОЩАДКИ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Экономия и прозрачные ставки вместо переписки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361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ЧТО ЗАВОД БУДЕТ ВИДЕТЬ В ОТЧЁТАХ ПЛОЩАДКИ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261289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29968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140610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67004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Экономия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1752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Разница между стартовой и итоговой ставкой — по заявке и за месяц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0138" y="1847088"/>
            <a:ext cx="261289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3018" y="2029968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660" y="214061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3018" y="267004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Ставки по направлениям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73018" y="301752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Средняя и лучшая ставка — видно, сколько рынок готов брать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5916" y="1847088"/>
            <a:ext cx="261289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68796" y="2029968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38" y="214061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8796" y="267004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Конкуренция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68796" y="301752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Кто участвует, сколько ставок на заявку, кто выигрывает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81694" y="1847088"/>
            <a:ext cx="261289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64574" y="2029968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216" y="2140610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64574" y="267004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История заявок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164574" y="301752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Сколько заявок взял каждый перевозчик; агент видит только свою историю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94360" y="3840480"/>
            <a:ext cx="66751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39867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ПРАВИЛА ЗАПУСКА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22960" y="43708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207008" y="434340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Сначала — фиксированные ставки, торги — когда накопится история цен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822960" y="48280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22960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207008" y="480060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Площадка закрытая: доступ только у заранее проверенных перевозчиков с договором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822960" y="52852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22960" y="5285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207008" y="525780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Правила торгов и порядок отказа от заявки — в договоре с перевозчиком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822960" y="57424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22960" y="5742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207008" y="571500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Номер заявки — сквозной: один в 1С, на площадке и в документах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498080" y="3840480"/>
            <a:ext cx="4096512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7726680" y="3840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МЕНЬШЕ ПЕРЕПИСКИ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Заявки, ставки, документы и статусы — в одном окне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Сообщения «есть ли машина?» и «что с заявкой?» больше не нужны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 · ДОКУМЕНТЫ ПО ЗАЯВКЕ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После победы агент загружает документы сам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6310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2631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Мои заявки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Выигранные заявки — в личном кабинете агента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84094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58414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1294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37" y="1848002"/>
            <a:ext cx="281635" cy="28163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90365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290365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41294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Водитель и машина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041294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Вручную или из Excel-проформы на несколько машин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48149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2469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5349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91" y="1848002"/>
            <a:ext cx="281635" cy="28163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54419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554419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305349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Загружает фото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305349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Паспорт, ВУ, СТС — каждый файл к своему типу документа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112203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86523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69403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46" y="1848002"/>
            <a:ext cx="281635" cy="28163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818474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18474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569403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Нейросеть проверяет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7569403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Сразу после загрузки: качество, тип, распознавание, сверка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376258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650578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833458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1848002"/>
            <a:ext cx="281635" cy="28163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1082528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1108252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833458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Статус и досылка</a:t>
            </a:r>
            <a:endParaRPr lang="en-US" sz="1350" dirty="0"/>
          </a:p>
        </p:txBody>
      </p:sp>
      <p:sp>
        <p:nvSpPr>
          <p:cNvPr id="42" name="Text 35"/>
          <p:cNvSpPr txBox="1"/>
          <p:nvPr/>
        </p:nvSpPr>
        <p:spPr>
          <a:xfrm>
            <a:off x="9833458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Агент видит итог и причину, догружает в ту же заявку</a:t>
            </a:r>
            <a:endParaRPr lang="en-US" sz="1150" dirty="0"/>
          </a:p>
        </p:txBody>
      </p:sp>
      <p:sp>
        <p:nvSpPr>
          <p:cNvPr id="43" name="Text 36"/>
          <p:cNvSpPr txBox="1"/>
          <p:nvPr/>
        </p:nvSpPr>
        <p:spPr>
          <a:xfrm>
            <a:off x="594360" y="38221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ИТОГ ПРОВЕРКИ — ОДИН ИЗ ЧЕТЫРЁХ СТАТУСОВ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594360" y="4114800"/>
            <a:ext cx="261289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777240" y="4279392"/>
            <a:ext cx="457200" cy="457200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379976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344168" y="427939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Передать дальше</a:t>
            </a:r>
            <a:endParaRPr lang="en-US" sz="1350" dirty="0"/>
          </a:p>
        </p:txBody>
      </p:sp>
      <p:sp>
        <p:nvSpPr>
          <p:cNvPr id="48" name="Text 40"/>
          <p:cNvSpPr txBox="1"/>
          <p:nvPr/>
        </p:nvSpPr>
        <p:spPr>
          <a:xfrm>
            <a:off x="777240" y="4828032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Документы распознаны, данные совпали — заявка уходит логисту</a:t>
            </a:r>
            <a:endParaRPr lang="en-US" sz="1150" dirty="0"/>
          </a:p>
        </p:txBody>
      </p:sp>
      <p:sp>
        <p:nvSpPr>
          <p:cNvPr id="49" name="Shape 41"/>
          <p:cNvSpPr/>
          <p:nvPr/>
        </p:nvSpPr>
        <p:spPr>
          <a:xfrm>
            <a:off x="3390138" y="4114800"/>
            <a:ext cx="261289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3573018" y="4279392"/>
            <a:ext cx="457200" cy="457200"/>
          </a:xfrm>
          <a:prstGeom prst="ellipse">
            <a:avLst/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3602" y="4379976"/>
            <a:ext cx="256032" cy="25603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4139946" y="427939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5"/>
                </a:solidFill>
              </a:rPr>
              <a:t>Перезагрузить документ</a:t>
            </a:r>
            <a:endParaRPr lang="en-US" sz="1350" dirty="0"/>
          </a:p>
        </p:txBody>
      </p:sp>
      <p:sp>
        <p:nvSpPr>
          <p:cNvPr id="53" name="Text 44"/>
          <p:cNvSpPr txBox="1"/>
          <p:nvPr/>
        </p:nvSpPr>
        <p:spPr>
          <a:xfrm>
            <a:off x="3573018" y="4828032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Фото нечитаемо или не тот документ — агент загружает заново</a:t>
            </a:r>
            <a:endParaRPr lang="en-US" sz="1150" dirty="0"/>
          </a:p>
        </p:txBody>
      </p:sp>
      <p:sp>
        <p:nvSpPr>
          <p:cNvPr id="54" name="Shape 45"/>
          <p:cNvSpPr/>
          <p:nvPr/>
        </p:nvSpPr>
        <p:spPr>
          <a:xfrm>
            <a:off x="6185916" y="4114800"/>
            <a:ext cx="261289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6368796" y="4279392"/>
            <a:ext cx="457200" cy="457200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380" y="4379976"/>
            <a:ext cx="256032" cy="25603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6935724" y="427939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3"/>
                </a:solidFill>
              </a:rPr>
              <a:t>Отказ с причиной</a:t>
            </a:r>
            <a:endParaRPr lang="en-US" sz="1350" dirty="0"/>
          </a:p>
        </p:txBody>
      </p:sp>
      <p:sp>
        <p:nvSpPr>
          <p:cNvPr id="58" name="Text 48"/>
          <p:cNvSpPr txBox="1"/>
          <p:nvPr/>
        </p:nvSpPr>
        <p:spPr>
          <a:xfrm>
            <a:off x="6368796" y="4828032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Явное несоответствие, например разные ФИО в паспорте и ВУ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8981694" y="4114800"/>
            <a:ext cx="261289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9164574" y="4279392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5158" y="4379976"/>
            <a:ext cx="256032" cy="256032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9731502" y="427939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Ручная проверка</a:t>
            </a:r>
            <a:endParaRPr lang="en-US" sz="1350" dirty="0"/>
          </a:p>
        </p:txBody>
      </p:sp>
      <p:sp>
        <p:nvSpPr>
          <p:cNvPr id="63" name="Text 52"/>
          <p:cNvSpPr txBox="1"/>
          <p:nvPr/>
        </p:nvSpPr>
        <p:spPr>
          <a:xfrm>
            <a:off x="9164574" y="4828032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Результат неоднозначен — решение принимает сотрудник</a:t>
            </a:r>
            <a:endParaRPr lang="en-US" sz="1150" dirty="0"/>
          </a:p>
        </p:txBody>
      </p:sp>
      <p:sp>
        <p:nvSpPr>
          <p:cNvPr id="64" name="Shape 53"/>
          <p:cNvSpPr/>
          <p:nvPr/>
        </p:nvSpPr>
        <p:spPr>
          <a:xfrm>
            <a:off x="594360" y="5577840"/>
            <a:ext cx="11000232" cy="621792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733288"/>
            <a:ext cx="310896" cy="310896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1307592" y="565099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ПРИНЦИП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Сомнительные случаи не пропускаются автоматически — их всегда смотрит человек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 · ДАННЫЕ ВОДИТЕЛЯ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Водитель и машина: вручную или из Excel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Одиночная заявка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5179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макет интерфейса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6072" y="1901952"/>
            <a:ext cx="5385816" cy="304712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7" name="Image 0" descr="C:\Users\AUSU\AppData\Local\Temp\claude\C--Users-AUSU-AppData-Roaming-Claude-scratch-workspaces-df4f2ee2-a8e1-461b-99f8-8cb626bf5d2c-1a6b44f4-be1d-4046-a9de-d7401fd383dd-scratch-2026-10-17-758bbc\5dc94fe1-9a32-48b5-89fc-3a130279f71f\images\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240"/>
            <a:ext cx="5349240" cy="30105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512064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5120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5102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Агент вводит данные водителя и автомобиля: ФИО, дату рождения, ВУ, марку, госномер, VIN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550468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5504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54864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Загружает 4 фото: паспорт — страница с фото и регистрация, ВУ и СТС — лицевые стороны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" y="588873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58704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«Сохранить черновик» — дозагрузить позже, «Запустить проверку» — отправить на проверку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245352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Массовая загрузка из Excel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948672" y="15179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макет интерфейса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27064" y="1901952"/>
            <a:ext cx="5385816" cy="304712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1" descr="C:\Users\AUSU\AppData\Local\Temp\claude\C--Users-AUSU-AppData-Roaming-Claude-scratch-workspaces-df4f2ee2-a8e1-461b-99f8-8cb626bf5d2c-1a6b44f4-be1d-4046-a9de-d7401fd383dd-scratch-2026-10-17-758bbc\5dc94fe1-9a32-48b5-89fc-3a130279f71f\images\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920240"/>
            <a:ext cx="5349240" cy="3010547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245352" y="512064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245352" y="5120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611112" y="5102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Агент загружает Excel-проформу: одна строка — один водитель и один автомобиль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245352" y="550468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245352" y="5504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611112" y="54864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Платформа создаёт карточку на каждую строку, агент проверяет, как перенеслись данные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245352" y="588873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245352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611112" y="58704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К каждой заявке прикрепляются фото — по номеру заявки, а не по порядку загрузки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 · ПРОВЕРКА ДОКУМЕНТОВ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Нейросеть проверяет каждый документ сразу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980590" cy="2286000"/>
          </a:xfrm>
          <a:prstGeom prst="roundRect">
            <a:avLst>
              <a:gd name="adj" fmla="val 36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62886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62886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6148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Качество фото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43200"/>
            <a:ext cx="161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Резкость, свет, документ целиком в кадре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447288"/>
            <a:ext cx="170627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447288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плохо → перезагрузить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11526" y="26974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49270" y="1554480"/>
            <a:ext cx="1980590" cy="2286000"/>
          </a:xfrm>
          <a:prstGeom prst="roundRect">
            <a:avLst>
              <a:gd name="adj" fmla="val 36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32150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793" y="1848002"/>
            <a:ext cx="281635" cy="28163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317797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317797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032150" y="2377440"/>
            <a:ext cx="16148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Тип документа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3032150" y="2743200"/>
            <a:ext cx="161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Паспорт, ВУ или СТС — в своём разделе заявки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986430" y="3447288"/>
            <a:ext cx="170627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2986430" y="3447288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не тот → перезагрузить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866437" y="26974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5104181" y="1554480"/>
            <a:ext cx="1980590" cy="2286000"/>
          </a:xfrm>
          <a:prstGeom prst="roundRect">
            <a:avLst>
              <a:gd name="adj" fmla="val 36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287061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703" y="1848002"/>
            <a:ext cx="281635" cy="28163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572707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572707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5287061" y="2377440"/>
            <a:ext cx="16148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Распознавание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5287061" y="2743200"/>
            <a:ext cx="161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Читает поля: ФИО, дату рождения, номера, госномер, VIN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41341" y="3447288"/>
            <a:ext cx="17062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5241341" y="3447288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неуверенно → человеку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121347" y="26974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7359091" y="1554480"/>
            <a:ext cx="1980590" cy="2286000"/>
          </a:xfrm>
          <a:prstGeom prst="roundRect">
            <a:avLst>
              <a:gd name="adj" fmla="val 36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541971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614" y="1848002"/>
            <a:ext cx="281635" cy="281635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8827618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82761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7541971" y="2377440"/>
            <a:ext cx="16148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Сверка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7541971" y="2743200"/>
            <a:ext cx="161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 данными заявки и между документами: ФИО и дата рождения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7496251" y="3447288"/>
            <a:ext cx="1706270" cy="27432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7496251" y="3447288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расхождение → отказ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9376258" y="26974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9614002" y="1554480"/>
            <a:ext cx="1980590" cy="2286000"/>
          </a:xfrm>
          <a:prstGeom prst="roundRect">
            <a:avLst>
              <a:gd name="adj" fmla="val 369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9796882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7524" y="1848002"/>
            <a:ext cx="281635" cy="281635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11082528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1108252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9796882" y="2377440"/>
            <a:ext cx="16148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Правила</a:t>
            </a:r>
            <a:endParaRPr lang="en-US" sz="1350" dirty="0"/>
          </a:p>
        </p:txBody>
      </p:sp>
      <p:sp>
        <p:nvSpPr>
          <p:cNvPr id="50" name="Text 43"/>
          <p:cNvSpPr txBox="1"/>
          <p:nvPr/>
        </p:nvSpPr>
        <p:spPr>
          <a:xfrm>
            <a:off x="9796882" y="2743200"/>
            <a:ext cx="161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Формат госномера, VIN — 17 символов, срок действия ВУ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9751162" y="3447288"/>
            <a:ext cx="1706270" cy="274320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9751162" y="3447288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всё верно → дальше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594360" y="4069080"/>
            <a:ext cx="667512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822960" y="423367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ЧЕМ РАСПОЗНАЁМ</a:t>
            </a:r>
            <a:endParaRPr lang="en-US" sz="1050" dirty="0"/>
          </a:p>
        </p:txBody>
      </p:sp>
      <p:sp>
        <p:nvSpPr>
          <p:cNvPr id="55" name="Text 48"/>
          <p:cNvSpPr txBox="1"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Основной: PaddleOCR</a:t>
            </a:r>
            <a:endParaRPr lang="en-US" sz="1300" dirty="0"/>
          </a:p>
        </p:txBody>
      </p:sp>
      <p:sp>
        <p:nvSpPr>
          <p:cNvPr id="56" name="Text 49"/>
          <p:cNvSpPr txBox="1"/>
          <p:nvPr/>
        </p:nvSpPr>
        <p:spPr>
          <a:xfrm>
            <a:off x="82296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Бесплатно, три готовые нейросети, читает кириллицу. Поля и правила — наш код; проверено на образцах и реальных фото</a:t>
            </a:r>
            <a:endParaRPr lang="en-US" sz="1150" dirty="0"/>
          </a:p>
        </p:txBody>
      </p:sp>
      <p:sp>
        <p:nvSpPr>
          <p:cNvPr id="57" name="Text 50"/>
          <p:cNvSpPr txBox="1"/>
          <p:nvPr/>
        </p:nvSpPr>
        <p:spPr>
          <a:xfrm>
            <a:off x="402336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Запасной: Smart Engines</a:t>
            </a:r>
            <a:endParaRPr lang="en-US" sz="1300" dirty="0"/>
          </a:p>
        </p:txBody>
      </p:sp>
      <p:sp>
        <p:nvSpPr>
          <p:cNvPr id="58" name="Text 51"/>
          <p:cNvSpPr txBox="1"/>
          <p:nvPr/>
        </p:nvSpPr>
        <p:spPr>
          <a:xfrm>
            <a:off x="402336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Если на реальных фото не хватит качества: готовые поля паспорта, ВУ и СТС, локальная установка. Платно</a:t>
            </a:r>
            <a:endParaRPr lang="en-US" sz="1150" dirty="0"/>
          </a:p>
        </p:txBody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42432"/>
            <a:ext cx="274320" cy="27432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1188720" y="566928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Начинаем с PaddleOCR из коробки; проверка на 50–100 реальных документах покажет, нужно ли что-то ещё</a:t>
            </a:r>
            <a:endParaRPr lang="en-US" sz="1150" dirty="0"/>
          </a:p>
        </p:txBody>
      </p:sp>
      <p:sp>
        <p:nvSpPr>
          <p:cNvPr id="61" name="Shape 53"/>
          <p:cNvSpPr/>
          <p:nvPr/>
        </p:nvSpPr>
        <p:spPr>
          <a:xfrm>
            <a:off x="7498080" y="4069080"/>
            <a:ext cx="4096512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/>
        </p:spPr>
      </p:sp>
      <p:sp>
        <p:nvSpPr>
          <p:cNvPr id="62" name="Text 54"/>
          <p:cNvSpPr txBox="1"/>
          <p:nvPr/>
        </p:nvSpPr>
        <p:spPr>
          <a:xfrm>
            <a:off x="7726680" y="4233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БЕЗОПАСНОСТЬ</a:t>
            </a:r>
            <a:endParaRPr lang="en-US" sz="1050" dirty="0"/>
          </a:p>
        </p:txBody>
      </p:sp>
      <p:sp>
        <p:nvSpPr>
          <p:cNvPr id="63" name="Text 55"/>
          <p:cNvSpPr txBox="1"/>
          <p:nvPr/>
        </p:nvSpPr>
        <p:spPr>
          <a:xfrm>
            <a:off x="7726680" y="45720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Нейросеть работает на сервере завода, документы не уходят во внешние сервисы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При низкой уверенности документ не принимается и не отклоняется автоматически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1 · СТАТУСЫ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Агент видит статус и догружает документы сам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" y="1536192"/>
            <a:ext cx="6193536" cy="465429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C:\Users\AUSU\AppData\Local\Temp\claude\C--Users-AUSU-AppData-Roaming-Claude-scratch-workspaces-df4f2ee2-a8e1-461b-99f8-8cb626bf5d2c-1a6b44f4-be1d-4046-a9de-d7401fd383dd-scratch-2026-10-17-758bbc\5dc94fe1-9a32-48b5-89fc-3a130279f71f\images\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615696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24344" y="1737360"/>
            <a:ext cx="0" cy="28803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78040" y="1600200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3524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Черновик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8562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Документы загружаются частями — можно сохранить и вернуться позже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78040" y="2331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3524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На проверке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587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Нейросеть проверяет, агент видит, сколько идёт проверка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78040" y="3063240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35240" y="3044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Требует исправления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33192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Причина по каждому документу, догрузка — в ту же заявку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78040" y="379476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35240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У логиста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40507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Комплект прошёл проверку, логист сверяет и подтверждает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78040" y="452628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635240" y="4507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Принята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635240" y="4782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Данные переданы в 1С, правки закрыты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78040" y="5394960"/>
            <a:ext cx="4416552" cy="365760"/>
          </a:xfrm>
          <a:prstGeom prst="roundRect">
            <a:avLst>
              <a:gd name="adj" fmla="val 15000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5468112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616952" y="5394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Уведомление агенту при каждой смене статуса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178040" y="5824728"/>
            <a:ext cx="4416552" cy="365760"/>
          </a:xfrm>
          <a:prstGeom prst="roundRect">
            <a:avLst>
              <a:gd name="adj" fmla="val 15000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589788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616952" y="58247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Догрузить можно до срока, затем заявка закрывается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ПРОБЛЕМА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Данные со сканов переносят и сверяют вручную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97480" cy="301752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Сканы и фото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Паспорт, ВУ, СТС, Excel-проформа — в почте и на дисках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310896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657600" y="1600200"/>
            <a:ext cx="2514600" cy="301752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86200" y="2148840"/>
            <a:ext cx="548640" cy="54864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901" y="22695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8620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Логист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88620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Смотрит на скан, сверяет глазами и набирает данные вручную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310896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537960" y="1600200"/>
            <a:ext cx="5056632" cy="3017520"/>
          </a:xfrm>
          <a:prstGeom prst="roundRect">
            <a:avLst>
              <a:gd name="adj" fmla="val 242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766560" y="1737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ВРУЧНУЮ — В ШЕСТИ МЕСТАХ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766560" y="2103120"/>
            <a:ext cx="2208276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30428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33488" y="210312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Заявка в 1С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ФИО, паспорт, ВУ, госномер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57716" y="2103120"/>
            <a:ext cx="2208276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76" y="230428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24644" y="210312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Справочник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нет: водитель — заново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766560" y="2926080"/>
            <a:ext cx="2208276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127248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33488" y="292608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Пакет на пропуск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порт и другие объекты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9157716" y="2926080"/>
            <a:ext cx="2208276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312724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724644" y="292608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Документы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из копий прошлых перевозок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766560" y="3749040"/>
            <a:ext cx="2208276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3950208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333488" y="374904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ЭТрН в Диадоке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заполняется вручную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9157716" y="3749040"/>
            <a:ext cx="2208276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3950208"/>
            <a:ext cx="310896" cy="31089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724644" y="374904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Отчёт бухгалтерии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из заявок и переписки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594360" y="4773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ПОСЛЕДСТВИЯ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594360" y="5074920"/>
            <a:ext cx="2612898" cy="1124712"/>
          </a:xfrm>
          <a:prstGeom prst="roundRect">
            <a:avLst>
              <a:gd name="adj" fmla="val 650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758952" y="5230368"/>
            <a:ext cx="411480" cy="41148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478" y="5320894"/>
            <a:ext cx="230429" cy="230429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280160" y="5230368"/>
            <a:ext cx="178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≈5 минут на заявку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758952" y="5715000"/>
            <a:ext cx="22837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только на ручной ввод, без переписки и оформления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3390138" y="5074920"/>
            <a:ext cx="2612898" cy="1124712"/>
          </a:xfrm>
          <a:prstGeom prst="roundRect">
            <a:avLst>
              <a:gd name="adj" fmla="val 650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3554730" y="5230368"/>
            <a:ext cx="411480" cy="41148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5256" y="5320894"/>
            <a:ext cx="230429" cy="230429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4075938" y="5230368"/>
            <a:ext cx="178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Ошибки переноса</a:t>
            </a:r>
            <a:endParaRPr lang="en-US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3554730" y="5715000"/>
            <a:ext cx="22837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опечатки попадают в заявку, пропуск и ЭТрН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6185916" y="5074920"/>
            <a:ext cx="2612898" cy="1124712"/>
          </a:xfrm>
          <a:prstGeom prst="roundRect">
            <a:avLst>
              <a:gd name="adj" fmla="val 650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6350508" y="5230368"/>
            <a:ext cx="411480" cy="41148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034" y="5320894"/>
            <a:ext cx="230429" cy="230429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871716" y="5230368"/>
            <a:ext cx="178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Чужие данные из копий</a:t>
            </a:r>
            <a:endParaRPr lang="en-US" sz="1300" dirty="0"/>
          </a:p>
        </p:txBody>
      </p:sp>
      <p:sp>
        <p:nvSpPr>
          <p:cNvPr id="51" name="Text 38"/>
          <p:cNvSpPr txBox="1"/>
          <p:nvPr/>
        </p:nvSpPr>
        <p:spPr>
          <a:xfrm>
            <a:off x="6350508" y="5715000"/>
            <a:ext cx="22837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старые реквизиты и водители в новых документах</a:t>
            </a:r>
            <a:endParaRPr lang="en-US" sz="1100" dirty="0"/>
          </a:p>
        </p:txBody>
      </p:sp>
      <p:sp>
        <p:nvSpPr>
          <p:cNvPr id="52" name="Shape 39"/>
          <p:cNvSpPr/>
          <p:nvPr/>
        </p:nvSpPr>
        <p:spPr>
          <a:xfrm>
            <a:off x="8981694" y="5074920"/>
            <a:ext cx="2612898" cy="1124712"/>
          </a:xfrm>
          <a:prstGeom prst="roundRect">
            <a:avLst>
              <a:gd name="adj" fmla="val 650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9146286" y="5230368"/>
            <a:ext cx="411480" cy="41148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6812" y="5320894"/>
            <a:ext cx="230429" cy="230429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9667494" y="5230368"/>
            <a:ext cx="178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Повторный ввод</a:t>
            </a:r>
            <a:endParaRPr lang="en-US" sz="1300" dirty="0"/>
          </a:p>
        </p:txBody>
      </p:sp>
      <p:sp>
        <p:nvSpPr>
          <p:cNvPr id="56" name="Text 42"/>
          <p:cNvSpPr txBox="1"/>
          <p:nvPr/>
        </p:nvSpPr>
        <p:spPr>
          <a:xfrm>
            <a:off x="9146286" y="5715000"/>
            <a:ext cx="22837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водителя, который уже возил, вводят заново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Данные сами попадают в 1С, логист только сверяет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6310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2631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Нейросеть распознала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Поля с фото уже в карточке, расхождения отмечены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84094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58414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1294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37" y="1848002"/>
            <a:ext cx="281635" cy="28163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90365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290365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41294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Логист сверяет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041294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Фото рядом с полями: проверяет, а не набирает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48149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2469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5349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91" y="1848002"/>
            <a:ext cx="281635" cy="28163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54419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554419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305349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Подтверждает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305349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«Подтвердить» или «Вернуть агенту» с причиной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112203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86523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69403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46" y="1848002"/>
            <a:ext cx="281635" cy="28163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818474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18474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569403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Данные в 1С:ERP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7569403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Справочник и реестр заявок на привлечённый транспорт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376258" y="260604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650578" y="1554480"/>
            <a:ext cx="1944014" cy="210312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833458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1848002"/>
            <a:ext cx="281635" cy="28163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1082528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1108252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833458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Остальное — само</a:t>
            </a:r>
            <a:endParaRPr lang="en-US" sz="1350" dirty="0"/>
          </a:p>
        </p:txBody>
      </p:sp>
      <p:sp>
        <p:nvSpPr>
          <p:cNvPr id="42" name="Text 35"/>
          <p:cNvSpPr txBox="1"/>
          <p:nvPr/>
        </p:nvSpPr>
        <p:spPr>
          <a:xfrm>
            <a:off x="9833458" y="2852928"/>
            <a:ext cx="1578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Пакет на пропуск, документы, ЭТрН, отчёт — по шаблонам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594360" y="3886200"/>
            <a:ext cx="11000232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868680" y="388620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Нейросеть читает 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алгоритм формирует</a:t>
            </a:r>
            <a:endParaRPr lang="en-US" sz="2200" dirty="0"/>
          </a:p>
        </p:txBody>
      </p:sp>
      <p:sp>
        <p:nvSpPr>
          <p:cNvPr id="45" name="Text 38"/>
          <p:cNvSpPr txBox="1"/>
          <p:nvPr/>
        </p:nvSpPr>
        <p:spPr>
          <a:xfrm>
            <a:off x="4937760" y="388620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Нейросеть нужна только там, где надо прочитать изображение. Документы, пакеты и отчёты формируются по шаблонам — точно, предсказуемо и бесплатно. Ошибка исправляется один раз в справочнике, а не в каждом документе.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594360" y="5440680"/>
            <a:ext cx="3544824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77240" y="5586984"/>
            <a:ext cx="438912" cy="438912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01" y="5683545"/>
            <a:ext cx="245791" cy="245791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1371600" y="5440680"/>
            <a:ext cx="2630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Логист не набирает данные</a:t>
            </a:r>
            <a:endParaRPr lang="en-US" sz="1400" dirty="0"/>
          </a:p>
        </p:txBody>
      </p:sp>
      <p:sp>
        <p:nvSpPr>
          <p:cNvPr id="50" name="Shape 42"/>
          <p:cNvSpPr/>
          <p:nvPr/>
        </p:nvSpPr>
        <p:spPr>
          <a:xfrm>
            <a:off x="4322064" y="5440680"/>
            <a:ext cx="3544824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504944" y="5586984"/>
            <a:ext cx="438912" cy="438912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505" y="5683545"/>
            <a:ext cx="245791" cy="245791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5099304" y="5440680"/>
            <a:ext cx="2630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Водитель вводится один раз</a:t>
            </a:r>
            <a:endParaRPr lang="en-US" sz="1400" dirty="0"/>
          </a:p>
        </p:txBody>
      </p:sp>
      <p:sp>
        <p:nvSpPr>
          <p:cNvPr id="54" name="Shape 45"/>
          <p:cNvSpPr/>
          <p:nvPr/>
        </p:nvSpPr>
        <p:spPr>
          <a:xfrm>
            <a:off x="8049768" y="5440680"/>
            <a:ext cx="3544824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8232648" y="5586984"/>
            <a:ext cx="438912" cy="438912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9209" y="5683545"/>
            <a:ext cx="245791" cy="245791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827008" y="5440680"/>
            <a:ext cx="2630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Документы без ручной правки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2 · СВЕРКА ЛОГИСТОМ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Экран логиста: фото и распознанные данные рядом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086600" cy="4663440"/>
          </a:xfrm>
          <a:prstGeom prst="roundRect">
            <a:avLst>
              <a:gd name="adj" fmla="val 156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18488"/>
            <a:ext cx="6958584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184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Заявка №0003 · Перевозчик 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184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эскиз экрана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700784"/>
            <a:ext cx="146304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9320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У логиста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2240280"/>
            <a:ext cx="269748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2697480"/>
            <a:ext cx="914400" cy="914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41248" y="4297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Паспорт: страница с фото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1248" y="4983480"/>
            <a:ext cx="60350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49834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Паспорт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538935" y="4983480"/>
            <a:ext cx="60350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38935" y="49834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Регистр.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36622" y="4983480"/>
            <a:ext cx="60350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36622" y="49834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ВУ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34310" y="4983480"/>
            <a:ext cx="60350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34310" y="49834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СТС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" y="5623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Все 4 документа прошли проверку качества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749040" y="3392424"/>
            <a:ext cx="3794760" cy="384048"/>
          </a:xfrm>
          <a:prstGeom prst="rect">
            <a:avLst/>
          </a:prstGeom>
          <a:solidFill>
            <a:schemeClr val="accent3">
              <a:alpha val="10000"/>
            </a:schemeClr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2240280"/>
          <a:ext cx="3794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143000"/>
                <a:gridCol w="365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Поле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Из заявки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С документа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ФИО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Иванов И. И.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Иванов И. И.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Дата рождения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15.05.1990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15.05.1990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Номер ВУ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99 12 345678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99 12 345687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Госномер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А123ВС 777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А123ВС 777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3749040" y="4279392"/>
            <a:ext cx="3794760" cy="457200"/>
          </a:xfrm>
          <a:prstGeom prst="roundRect">
            <a:avLst>
              <a:gd name="adj" fmla="val 12000"/>
            </a:avLst>
          </a:prstGeom>
          <a:solidFill>
            <a:schemeClr val="accent3">
              <a:alpha val="8000"/>
            </a:scheme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4379976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206240" y="4279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Номер ВУ в заявке и на фото различается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749040" y="502920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374904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Подтвердить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715000" y="502920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71500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Вернуть агенту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3749040" y="5623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При возврате агент получает причину: «Номер ВУ не совпадает с фото»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001000" y="16002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0100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8458200" y="160020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Очередь</a:t>
            </a:r>
            <a:endParaRPr lang="en-US" sz="1350" dirty="0"/>
          </a:p>
        </p:txBody>
      </p:sp>
      <p:sp>
        <p:nvSpPr>
          <p:cNvPr id="35" name="Text 30"/>
          <p:cNvSpPr txBox="1"/>
          <p:nvPr/>
        </p:nvSpPr>
        <p:spPr>
          <a:xfrm>
            <a:off x="8458200" y="19659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Логист видит только заявки, прошедшие проверку, и случаи ручной проверки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001000" y="26974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010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8458200" y="269748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Сверка</a:t>
            </a:r>
            <a:endParaRPr lang="en-US" sz="1350" dirty="0"/>
          </a:p>
        </p:txBody>
      </p:sp>
      <p:sp>
        <p:nvSpPr>
          <p:cNvPr id="39" name="Text 34"/>
          <p:cNvSpPr txBox="1"/>
          <p:nvPr/>
        </p:nvSpPr>
        <p:spPr>
          <a:xfrm>
            <a:off x="8458200" y="30632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Поля уже заполнены нейросетью, расхождения подсвечены — глазами проверяется итог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8001000" y="37947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0010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8458200" y="379476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Решение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458200" y="416052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«Подтвердить» — данные уходят в 1С. «Вернуть агенту» — агент получает причину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8001000" y="5029200"/>
            <a:ext cx="3593592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822960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ГЛАВНОЕ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Логист не перепечатывает данные — он проверяет и принимает решение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2 · СПРАВОЧНИК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Единый справочник: водитель вводится один раз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23160" y="160020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3160" y="16002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Перевозчик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проверены заранее, договор заключён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2468880"/>
            <a:ext cx="0" cy="2286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1620" y="2697480"/>
            <a:ext cx="42062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1620" y="2697480"/>
            <a:ext cx="0" cy="2286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92608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09067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30723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Водители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347472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ФИО, дата рождения, паспорт, ВУ и срок действия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531620" y="4114800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634740" y="2697480"/>
            <a:ext cx="0" cy="2286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697480" y="292608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309067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246120" y="30723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Тягачи (ТС)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862072" y="347472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Марка, госномер, VIN, СТС, собственник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34740" y="4114800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737860" y="2697480"/>
            <a:ext cx="0" cy="2286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800600" y="292608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309067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49240" y="30723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Прицепы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965192" y="347472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Госномер, СТС, тип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737860" y="4114800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94360" y="4526280"/>
            <a:ext cx="6080760" cy="1005840"/>
          </a:xfrm>
          <a:prstGeom prst="roundRect">
            <a:avLst>
              <a:gd name="adj" fmla="val 7273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22960" y="4526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Заявка на перевозку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Водитель, ТС и прицеп выбираются из справочника + груз, маршрут, ставка → источник для всех документов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94360" y="57150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Полная структура записи — в блоке «Реестр привлечённого транспорта»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086600" y="1600200"/>
            <a:ext cx="438912" cy="438912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161" y="1696761"/>
            <a:ext cx="245791" cy="24579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680960" y="160020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Заполняется с платформы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680960" y="189280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После подтверждения логистом данные записываются в справочник автоматически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086600" y="2496312"/>
            <a:ext cx="438912" cy="438912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161" y="2592873"/>
            <a:ext cx="245791" cy="24579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680960" y="24963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Повторная перевозка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7680960" y="278892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Агент выбирает водителя и машину из своего списка — документы повторно не загружаются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086600" y="3392424"/>
            <a:ext cx="438912" cy="438912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3161" y="3488985"/>
            <a:ext cx="245791" cy="245791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680960" y="339242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Контроль сроков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7680960" y="3685032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Система напоминает об истекающем ВУ и запрашивает новый документ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7086600" y="4288536"/>
            <a:ext cx="438912" cy="438912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3161" y="4385097"/>
            <a:ext cx="245791" cy="245791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680960" y="42885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Типовые средства 1С:ERP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7680960" y="458114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Подсистема «Доставка», «Транспортные средства», дополнительные реквизиты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7086600" y="5184648"/>
            <a:ext cx="438912" cy="438912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3161" y="5281209"/>
            <a:ext cx="245791" cy="245791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680960" y="5184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Старт</a:t>
            </a:r>
            <a:endParaRPr lang="en-US" sz="1300" dirty="0"/>
          </a:p>
        </p:txBody>
      </p:sp>
      <p:sp>
        <p:nvSpPr>
          <p:cNvPr id="48" name="Text 38"/>
          <p:cNvSpPr txBox="1"/>
          <p:nvPr/>
        </p:nvSpPr>
        <p:spPr>
          <a:xfrm>
            <a:off x="7680960" y="5477256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Действующих перевозчиков и водителей переносим один раз из почты и Excel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РЕШЕНИЕ 2 · АВТОМАТИЧЕСКОЕ ФОРМИРОВАНИЕ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1С формирует документы из подтверждённой заявки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967228"/>
            <a:ext cx="237744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68396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60730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Подтверждённая заявка в 1С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данные водителя, ТС, груза и маршрута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71800" y="3881628"/>
            <a:ext cx="182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54680" y="2125980"/>
            <a:ext cx="0" cy="351129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2125980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29000" y="1600200"/>
            <a:ext cx="8165592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1880" y="187452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522" y="19851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17099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Пакет на пропуск — порт и другие объекты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2020824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Список водителей и ТС в формате объекта и файлы документов, названные по его правилам. Требования объекта задаются настройкой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582912" y="1842516"/>
            <a:ext cx="1828800" cy="566928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582912" y="18425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Логист загружает на платформу порта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154680" y="3296412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429000" y="2770632"/>
            <a:ext cx="8165592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11880" y="3044952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3155594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297680" y="2880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Документы на перевозку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297680" y="3191256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Заявка перевозчику, договор-заявка, акт — печатные формы 1С по шаблонам предприятия, заполняются из заявки и справочника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582912" y="3012948"/>
            <a:ext cx="1828800" cy="566928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9582912" y="30129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Печать или отправка перевозчику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154680" y="4466844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3429000" y="3941064"/>
            <a:ext cx="8165592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11880" y="4215384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522" y="4326026"/>
            <a:ext cx="281635" cy="28163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297680" y="40507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ЭТрН и заказ-заявка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4297680" y="4361688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Модуль Контура «Логистика.Про» формирует документ из 1С, подпись — КЭП сотрудника и МЧД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582912" y="4183380"/>
            <a:ext cx="1828800" cy="566928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9582912" y="41833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Диадок: перевозчику и в ГИС ЭПД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3154680" y="5637276"/>
            <a:ext cx="25603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3429000" y="5111496"/>
            <a:ext cx="8165592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11880" y="5385816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522" y="5496458"/>
            <a:ext cx="281635" cy="28163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297680" y="52212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Отчёт для бухгалтерии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4297680" y="5532120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Ставка — из заявки автоматически; доплаты, простои, штрафы — логист в карточке рейса; счёт перевозчика привязан к рейсу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9582912" y="5353812"/>
            <a:ext cx="1828800" cy="566928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9582912" y="53538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Бухгалтерия: отчёт кнопкой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ОБЩАЯ СХЕМА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Путь заявки: от площадки до порта и бухгалтерии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100023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234440" cy="914400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Агент перевозчика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100023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459736"/>
            <a:ext cx="1234440" cy="914400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45973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Площадка и нейросеть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410712"/>
            <a:ext cx="1100023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410712"/>
            <a:ext cx="1234440" cy="914400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4107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Логист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361688"/>
            <a:ext cx="1100023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361688"/>
            <a:ext cx="1234440" cy="914400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6168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1С:ERP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5312664"/>
            <a:ext cx="1100023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5312664"/>
            <a:ext cx="1234440" cy="914400"/>
          </a:xfrm>
          <a:prstGeom prst="rect">
            <a:avLst/>
          </a:prstGeom>
          <a:solidFill>
            <a:schemeClr val="accent6">
              <a:alpha val="55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31266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Внешние участники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38528" y="4471416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93392" y="4471416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Заявка в 1С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по 20 т на машину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38528" y="3520440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93392" y="3520440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Публикует заявку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ставка и срок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25673" y="1618488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80537" y="1618488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Делает ставку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или берёт заявку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12818" y="3520440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67682" y="3520440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Согласует победителя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лучшая ставка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99962" y="1618488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54826" y="1618488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Водитель и фото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в выигранную заявку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87107" y="2569464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41971" y="2569464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Нейросеть проверяет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на сервере завода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74252" y="3520440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29116" y="3520440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Сверяет и подтверждает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фото рядом с полями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61397" y="4471416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tx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316261" y="4471416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1С: справочник, реестр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документы по шаблонам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261397" y="5422392"/>
            <a:ext cx="1259129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316261" y="5422392"/>
            <a:ext cx="11494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Пакет, ЭТрН, отчёт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порт, Диадок, бухгалтерия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flipV="1">
            <a:off x="2568092" y="4215384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197657" y="3867912"/>
            <a:ext cx="7575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955237" y="2313432"/>
            <a:ext cx="0" cy="1554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84802" y="1965960"/>
            <a:ext cx="7575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42382" y="1965960"/>
            <a:ext cx="0" cy="1554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971946" y="3867912"/>
            <a:ext cx="49377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465722" y="2313432"/>
            <a:ext cx="0" cy="1554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59091" y="1965960"/>
            <a:ext cx="7575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6672" y="1965960"/>
            <a:ext cx="0" cy="60350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7014362" y="2916936"/>
            <a:ext cx="472745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V="1">
            <a:off x="7014362" y="2313432"/>
            <a:ext cx="0" cy="60350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984248" y="2916936"/>
            <a:ext cx="2743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2322576" y="27340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ошибка: причина агенту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746236" y="2916936"/>
            <a:ext cx="7575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03816" y="2916936"/>
            <a:ext cx="0" cy="60350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133381" y="3867912"/>
            <a:ext cx="7575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890961" y="3867912"/>
            <a:ext cx="0" cy="60350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890961" y="5166360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ТЕХНИЧЕСКОЕ РЕШЕНИЕ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Где что работает и как связано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965960" cy="2514600"/>
          </a:xfrm>
          <a:prstGeom prst="roundRect">
            <a:avLst>
              <a:gd name="adj" fmla="val 4651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ИНТЕРНЕТ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97480" y="1554480"/>
            <a:ext cx="2331720" cy="2514600"/>
          </a:xfrm>
          <a:prstGeom prst="roundRect">
            <a:avLst>
              <a:gd name="adj" fmla="val 3922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2834640" y="16642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ПЕРИМЕТР ЗАВОДА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66360" y="1554480"/>
            <a:ext cx="4160520" cy="2514600"/>
          </a:xfrm>
          <a:prstGeom prst="roundRect">
            <a:avLst>
              <a:gd name="adj" fmla="val 3636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303520" y="16642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ВНУТРЕННЯЯ СЕТЬ ЗАВОДА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464040" y="1554480"/>
            <a:ext cx="2130552" cy="2514600"/>
          </a:xfrm>
          <a:prstGeom prst="roundRect">
            <a:avLst>
              <a:gd name="adj" fmla="val 4292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9601200" y="166420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ВНЕШНИЕ СЕРВИСЫ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169164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3317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Агенты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браузер, вход по логину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331720"/>
            <a:ext cx="205740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Веб-платформа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площадка, торги, кабинет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337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вход только перевозчикам с договором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331720"/>
            <a:ext cx="182880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Сервер проверки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нейросеть и правила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2011680"/>
            <a:ext cx="1828800" cy="16002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201168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1С:ERP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справочник, реестр, документы, отчёты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0" y="2011680"/>
            <a:ext cx="1856232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011680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Контур.Диадок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ЭТрН → ГИС ЭПД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0" y="2971800"/>
            <a:ext cx="1856232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2971800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Платформа порта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пакет загружает логист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41448" y="278892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10328" y="278892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291840" y="3246120"/>
            <a:ext cx="0" cy="6400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3291840" y="3886200"/>
            <a:ext cx="4983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8275320" y="3630168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349240" y="36393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обмен по API · запускает 1С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08008" y="240030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208008" y="3360420"/>
            <a:ext cx="3749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24528"/>
          <a:ext cx="110002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035040"/>
                <a:gridCol w="267919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Компонент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Как сделать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Стоимость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Веб-платформа (площадка)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Веб-приложение на открытом ПО (например, Python и PostgreSQL): доска заявок, торги, кабинет агента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Разработка: штат или подрядчик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Распознавание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PaddleOCR из коробки (без обучения) + шаблоны и правила; при нехватке качества — дообучение или SDK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Бесплатно; работа разработчика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Связь платформы с 1С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REST API площадки; обмен запускает 1С по расписанию (HTTP-запросы, JSON)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Работа программиста 1С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ЭТрН из 1С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Модуль Контура «Логистика.Про» для 1С:ERP 2.4/2.5 и его настройка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57 215 руб. в первый год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Сервер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Сервер завода: 8 ядер, 32 ГБ ОЗУ — проверено на ноутбуке такого уровня; видеокарта не обязательна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По смете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РАСПОЗНАВАНИЕ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Как PaddleOCR читает фото — простыми словами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578608" cy="329184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91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Получает фото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21408"/>
            <a:ext cx="2304288" cy="1481328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9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explain\1_inp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35" y="2121408"/>
            <a:ext cx="2255659" cy="14813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8952" y="371246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Пример: образец водительского удостоверения с выдуманными данными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862072"/>
            <a:ext cx="1737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1568" y="1554480"/>
            <a:ext cx="2578608" cy="3291840"/>
          </a:xfrm>
          <a:prstGeom prst="roundRect">
            <a:avLst>
              <a:gd name="adj" fmla="val 283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691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6616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995928" y="16916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Находит строки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38728" y="2121408"/>
            <a:ext cx="2304288" cy="1481328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7" name="Image 1" descr="C:\Users\AUSU\AppData\Local\Temp\claude\C--Users-AUSU-AppData-Roaming-Claude-scratch-workspaces-df4f2ee2-a8e1-461b-99f8-8cb626bf5d2c-1a6b44f4-be1d-4046-a9de-d7401fd383dd-scratch-2026-10-17-758bbc\5dc94fe1-9a32-48b5-89fc-3a130279f71f\scratchpad\build\assets\explain\2_box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043" y="2121408"/>
            <a:ext cx="2255659" cy="148132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566160" y="371246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Нейросеть №1 ищет на снимке текст и обводит каждую строку рамкой. Здесь — 23 строки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66160" y="4462272"/>
            <a:ext cx="2249424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566160" y="446227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готовая: PP-OCRv5 det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07608" y="2862072"/>
            <a:ext cx="1737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208776" y="1554480"/>
            <a:ext cx="2578608" cy="3291840"/>
          </a:xfrm>
          <a:prstGeom prst="roundRect">
            <a:avLst>
              <a:gd name="adj" fmla="val 283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73368" y="1691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373368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803136" y="16916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Выпрямляет строки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45936" y="2121408"/>
            <a:ext cx="2304288" cy="1481328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7" name="Image 2" descr="C:\Users\AUSU\AppData\Local\Temp\claude\C--Users-AUSU-AppData-Roaming-Claude-scratch-workspaces-df4f2ee2-a8e1-461b-99f8-8cb626bf5d2c-1a6b44f4-be1d-4046-a9de-d7401fd383dd-scratch-2026-10-17-758bbc\5dc94fe1-9a32-48b5-89fc-3a130279f71f\scratchpad\build\assets\explain\3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711" y="2167128"/>
            <a:ext cx="1668737" cy="138988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373368" y="371246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Каждую строку вырезает и выравнивает. Нейросеть №2 переворачивает строки, стоящие вверх ногами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373368" y="4462272"/>
            <a:ext cx="2249424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373368" y="446227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готовая: PP-LCNet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814816" y="2862072"/>
            <a:ext cx="1737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9015984" y="1554480"/>
            <a:ext cx="2578608" cy="3291840"/>
          </a:xfrm>
          <a:prstGeom prst="roundRect">
            <a:avLst>
              <a:gd name="adj" fmla="val 283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80576" y="1691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9180576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9610344" y="16916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Читает по буквам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9153144" y="2121408"/>
            <a:ext cx="2304288" cy="148132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290304" y="221284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ИВАНОВ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10799064" y="224028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10799064" y="2240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0,98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9290304" y="2551176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ИВАНИВАНОВИЧ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10799064" y="2578608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10799064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0,88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9290304" y="288950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15.05.1990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10799064" y="2916936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10799064" y="2916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0,99</a:t>
            </a:r>
            <a:endParaRPr lang="en-US" sz="1050" dirty="0"/>
          </a:p>
        </p:txBody>
      </p:sp>
      <p:sp>
        <p:nvSpPr>
          <p:cNvPr id="46" name="Text 41"/>
          <p:cNvSpPr txBox="1"/>
          <p:nvPr/>
        </p:nvSpPr>
        <p:spPr>
          <a:xfrm>
            <a:off x="9290304" y="3227832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99 12 345678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10799064" y="3255264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10799064" y="3255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0,95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9180576" y="371246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Нейросеть №3 читает кириллицу, латиницу и цифры и ставит каждой строке оценку уверенности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9180576" y="4462272"/>
            <a:ext cx="2249424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9180576" y="446227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готовая: PP-OCRv5 eslav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594360" y="5029200"/>
            <a:ext cx="3544824" cy="1188720"/>
          </a:xfrm>
          <a:prstGeom prst="roundRect">
            <a:avLst>
              <a:gd name="adj" fmla="val 6154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93792"/>
            <a:ext cx="274320" cy="274320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1161288" y="5074920"/>
            <a:ext cx="2859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КАК ЧЕЛОВЕК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Мы тоже сначала находим глазами текст, поворачиваем документ ровно и читаем. PaddleOCR делает то же — тремя нейросетями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4322064" y="5029200"/>
            <a:ext cx="3544824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944" y="5193792"/>
            <a:ext cx="274320" cy="274320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4888992" y="5074920"/>
            <a:ext cx="2859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ГОТОВО — ОБУЧАТЬ НЕ НУЖНО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Три нейросети уже обучены разработчиками на миллионах картинок с текстом. Ставятся одной командой, около 100 МБ, бесплатно, без интернета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8049768" y="5029200"/>
            <a:ext cx="3544824" cy="1188720"/>
          </a:xfrm>
          <a:prstGeom prst="roundRect">
            <a:avLst>
              <a:gd name="adj" fmla="val 6154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2648" y="5193792"/>
            <a:ext cx="274320" cy="27432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8616696" y="5074920"/>
            <a:ext cx="2859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ДАЛЬШЕ — НАШ КОД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Обычный код без обучения: тип документа по ключевым словам, поля по шаблону, сверка с заявкой и итоговый статус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РАСПОЗНАВАНИЕ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Уверенность: как нейросеть оценивает сама себя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402336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459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45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Каждая буква — выбор из вариантов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Нейросеть прикидывает, на что похож кусочек строки, и берёт самый похожий символ. Его процент — уверенность в букве: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2743200"/>
            <a:ext cx="2377440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2743200"/>
            <a:ext cx="162355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26974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68%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71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63040" y="3017520"/>
            <a:ext cx="2377440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3017520"/>
            <a:ext cx="633112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31920" y="29718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27%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46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другие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3291840"/>
            <a:ext cx="2377440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3291840"/>
            <a:ext cx="12077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31920" y="32461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508760"/>
            <a:ext cx="6793992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16459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65192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1645920"/>
            <a:ext cx="6062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Оценка строки — среднее по буквам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308592" y="175564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64040" y="16916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от 95%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0" y="175564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213848" y="16916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80–95%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808208" y="1755648"/>
            <a:ext cx="109728" cy="1097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963656" y="16916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ниже 80%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65192" y="2057400"/>
            <a:ext cx="3229562" cy="4023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2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confidence\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075688"/>
            <a:ext cx="3192986" cy="36576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286194" y="2258568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8679386" y="2039112"/>
            <a:ext cx="12692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tx2"/>
                </a:solidFill>
              </a:rPr>
              <a:t>ПРОЧИТАНО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ИВАНИВАНОВИЧ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085832" y="2103120"/>
            <a:ext cx="13258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085832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среднее 0,88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983480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983480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4983480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96%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481476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481476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481476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68%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979473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979473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5979473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96%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477469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477469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6477469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71%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6975465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50" name="Text 47"/>
          <p:cNvSpPr txBox="1"/>
          <p:nvPr/>
        </p:nvSpPr>
        <p:spPr>
          <a:xfrm>
            <a:off x="6975465" y="2633472"/>
            <a:ext cx="452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пробел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6975465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41%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473462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473462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473462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95%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7971458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7971458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7971458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83%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8469454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8469454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8469454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96%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967450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967450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8967450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84%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465447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9465447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9465447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93%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9963443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9963443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</a:t>
            </a:r>
            <a:endParaRPr lang="en-US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9963443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77%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10461439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0461439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</a:t>
            </a:r>
            <a:endParaRPr lang="en-US" sz="1500" dirty="0"/>
          </a:p>
        </p:txBody>
      </p:sp>
      <p:sp>
        <p:nvSpPr>
          <p:cNvPr id="72" name="Text 69"/>
          <p:cNvSpPr txBox="1"/>
          <p:nvPr/>
        </p:nvSpPr>
        <p:spPr>
          <a:xfrm>
            <a:off x="10461439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95%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10959436" y="2578608"/>
            <a:ext cx="452276" cy="566928"/>
          </a:xfrm>
          <a:prstGeom prst="roundRect">
            <a:avLst>
              <a:gd name="adj" fmla="val 101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10959436" y="2606040"/>
            <a:ext cx="452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</a:t>
            </a:r>
            <a:endParaRPr lang="en-US" sz="1500" dirty="0"/>
          </a:p>
        </p:txBody>
      </p:sp>
      <p:sp>
        <p:nvSpPr>
          <p:cNvPr id="75" name="Text 72"/>
          <p:cNvSpPr txBox="1"/>
          <p:nvPr/>
        </p:nvSpPr>
        <p:spPr>
          <a:xfrm>
            <a:off x="10959436" y="2907792"/>
            <a:ext cx="4522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97%</a:t>
            </a:r>
            <a:endParaRPr lang="en-US" sz="950" dirty="0"/>
          </a:p>
        </p:txBody>
      </p:sp>
      <p:sp>
        <p:nvSpPr>
          <p:cNvPr id="76" name="Text 73"/>
          <p:cNvSpPr txBox="1"/>
          <p:nvPr/>
        </p:nvSpPr>
        <p:spPr>
          <a:xfrm>
            <a:off x="4983480" y="3227832"/>
            <a:ext cx="6428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Пробел: «есть» 41%, «нет» 59% — нейросеть его пропустила. Сами буквы прочитаны верно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594360" y="3703320"/>
            <a:ext cx="6793992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58952" y="38404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758952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80" name="Text 77"/>
          <p:cNvSpPr txBox="1"/>
          <p:nvPr/>
        </p:nvSpPr>
        <p:spPr>
          <a:xfrm>
            <a:off x="1188720" y="3840480"/>
            <a:ext cx="6062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Реальное ВУ: почему «РОМАН СЕРГЕЕВИЧ» — 0,64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758952" y="4251960"/>
            <a:ext cx="3139230" cy="4023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82" name="Image 1" descr="C:\Users\AUSU\AppData\Local\Temp\claude\C--Users-AUSU-AppData-Roaming-Claude-scratch-workspaces-df4f2ee2-a8e1-461b-99f8-8cb626bf5d2c-1a6b44f4-be1d-4046-a9de-d7401fd383dd-scratch-2026-10-17-758bbc\5dc94fe1-9a32-48b5-89fc-3a130279f71f\scratchpad\build\assets\confidence\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70248"/>
            <a:ext cx="3102654" cy="365760"/>
          </a:xfrm>
          <a:prstGeom prst="rect">
            <a:avLst/>
          </a:prstGeom>
        </p:spPr>
      </p:pic>
      <p:sp>
        <p:nvSpPr>
          <p:cNvPr id="83" name="Shape 79"/>
          <p:cNvSpPr/>
          <p:nvPr/>
        </p:nvSpPr>
        <p:spPr>
          <a:xfrm>
            <a:off x="3989622" y="4453128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4" name="Text 80"/>
          <p:cNvSpPr txBox="1"/>
          <p:nvPr/>
        </p:nvSpPr>
        <p:spPr>
          <a:xfrm>
            <a:off x="4382814" y="4233672"/>
            <a:ext cx="135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tx2"/>
                </a:solidFill>
              </a:rPr>
              <a:t>ПРОЧИТАНО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PОМАH СЕРГЕЕВИЧ</a:t>
            </a:r>
            <a:endParaRPr lang="en-US" sz="1200" dirty="0"/>
          </a:p>
        </p:txBody>
      </p:sp>
      <p:sp>
        <p:nvSpPr>
          <p:cNvPr id="85" name="Shape 81"/>
          <p:cNvSpPr/>
          <p:nvPr/>
        </p:nvSpPr>
        <p:spPr>
          <a:xfrm>
            <a:off x="5879592" y="4297680"/>
            <a:ext cx="13258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5879592" y="4297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среднее 0,64</a:t>
            </a:r>
            <a:endParaRPr lang="en-US" sz="1100" dirty="0"/>
          </a:p>
        </p:txBody>
      </p:sp>
      <p:sp>
        <p:nvSpPr>
          <p:cNvPr id="87" name="Text 83"/>
          <p:cNvSpPr txBox="1"/>
          <p:nvPr/>
        </p:nvSpPr>
        <p:spPr>
          <a:xfrm>
            <a:off x="777240" y="51114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русская</a:t>
            </a:r>
            <a:endParaRPr lang="en-US" sz="900" dirty="0"/>
          </a:p>
        </p:txBody>
      </p:sp>
      <p:sp>
        <p:nvSpPr>
          <p:cNvPr id="88" name="Text 84"/>
          <p:cNvSpPr txBox="1"/>
          <p:nvPr/>
        </p:nvSpPr>
        <p:spPr>
          <a:xfrm>
            <a:off x="777240" y="5367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латинская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1508760" y="5102352"/>
            <a:ext cx="569671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527048" y="4764024"/>
            <a:ext cx="343205" cy="859536"/>
          </a:xfrm>
          <a:prstGeom prst="roundRect">
            <a:avLst>
              <a:gd name="adj" fmla="val 13321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91" name="Text 87"/>
          <p:cNvSpPr txBox="1"/>
          <p:nvPr/>
        </p:nvSpPr>
        <p:spPr>
          <a:xfrm>
            <a:off x="1508760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</a:t>
            </a:r>
            <a:endParaRPr lang="en-US" sz="1400" dirty="0"/>
          </a:p>
        </p:txBody>
      </p:sp>
      <p:sp>
        <p:nvSpPr>
          <p:cNvPr id="92" name="Text 88"/>
          <p:cNvSpPr txBox="1"/>
          <p:nvPr/>
        </p:nvSpPr>
        <p:spPr>
          <a:xfrm>
            <a:off x="1508760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41</a:t>
            </a:r>
            <a:endParaRPr lang="en-US" sz="1000" dirty="0"/>
          </a:p>
        </p:txBody>
      </p:sp>
      <p:sp>
        <p:nvSpPr>
          <p:cNvPr id="93" name="Text 89"/>
          <p:cNvSpPr txBox="1"/>
          <p:nvPr/>
        </p:nvSpPr>
        <p:spPr>
          <a:xfrm>
            <a:off x="1508760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54</a:t>
            </a:r>
            <a:endParaRPr lang="en-US" sz="1000" dirty="0"/>
          </a:p>
        </p:txBody>
      </p:sp>
      <p:sp>
        <p:nvSpPr>
          <p:cNvPr id="94" name="Text 90"/>
          <p:cNvSpPr txBox="1"/>
          <p:nvPr/>
        </p:nvSpPr>
        <p:spPr>
          <a:xfrm>
            <a:off x="1888541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</a:t>
            </a:r>
            <a:endParaRPr lang="en-US" sz="1400" dirty="0"/>
          </a:p>
        </p:txBody>
      </p:sp>
      <p:sp>
        <p:nvSpPr>
          <p:cNvPr id="95" name="Text 91"/>
          <p:cNvSpPr txBox="1"/>
          <p:nvPr/>
        </p:nvSpPr>
        <p:spPr>
          <a:xfrm>
            <a:off x="1888541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57</a:t>
            </a:r>
            <a:endParaRPr lang="en-US" sz="1000" dirty="0"/>
          </a:p>
        </p:txBody>
      </p:sp>
      <p:sp>
        <p:nvSpPr>
          <p:cNvPr id="96" name="Text 92"/>
          <p:cNvSpPr txBox="1"/>
          <p:nvPr/>
        </p:nvSpPr>
        <p:spPr>
          <a:xfrm>
            <a:off x="1888541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42</a:t>
            </a:r>
            <a:endParaRPr lang="en-US" sz="1000" dirty="0"/>
          </a:p>
        </p:txBody>
      </p:sp>
      <p:sp>
        <p:nvSpPr>
          <p:cNvPr id="97" name="Text 93"/>
          <p:cNvSpPr txBox="1"/>
          <p:nvPr/>
        </p:nvSpPr>
        <p:spPr>
          <a:xfrm>
            <a:off x="2268322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</a:t>
            </a:r>
            <a:endParaRPr lang="en-US" sz="1400" dirty="0"/>
          </a:p>
        </p:txBody>
      </p:sp>
      <p:sp>
        <p:nvSpPr>
          <p:cNvPr id="98" name="Text 94"/>
          <p:cNvSpPr txBox="1"/>
          <p:nvPr/>
        </p:nvSpPr>
        <p:spPr>
          <a:xfrm>
            <a:off x="2268322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59</a:t>
            </a:r>
            <a:endParaRPr lang="en-US" sz="1000" dirty="0"/>
          </a:p>
        </p:txBody>
      </p:sp>
      <p:sp>
        <p:nvSpPr>
          <p:cNvPr id="99" name="Text 95"/>
          <p:cNvSpPr txBox="1"/>
          <p:nvPr/>
        </p:nvSpPr>
        <p:spPr>
          <a:xfrm>
            <a:off x="2268322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41</a:t>
            </a:r>
            <a:endParaRPr lang="en-US" sz="1000" dirty="0"/>
          </a:p>
        </p:txBody>
      </p:sp>
      <p:sp>
        <p:nvSpPr>
          <p:cNvPr id="100" name="Text 96"/>
          <p:cNvSpPr txBox="1"/>
          <p:nvPr/>
        </p:nvSpPr>
        <p:spPr>
          <a:xfrm>
            <a:off x="2648102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</a:t>
            </a:r>
            <a:endParaRPr lang="en-US" sz="1400" dirty="0"/>
          </a:p>
        </p:txBody>
      </p:sp>
      <p:sp>
        <p:nvSpPr>
          <p:cNvPr id="101" name="Text 97"/>
          <p:cNvSpPr txBox="1"/>
          <p:nvPr/>
        </p:nvSpPr>
        <p:spPr>
          <a:xfrm>
            <a:off x="2648102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60</a:t>
            </a:r>
            <a:endParaRPr lang="en-US" sz="1000" dirty="0"/>
          </a:p>
        </p:txBody>
      </p:sp>
      <p:sp>
        <p:nvSpPr>
          <p:cNvPr id="102" name="Text 98"/>
          <p:cNvSpPr txBox="1"/>
          <p:nvPr/>
        </p:nvSpPr>
        <p:spPr>
          <a:xfrm>
            <a:off x="2648102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39</a:t>
            </a:r>
            <a:endParaRPr lang="en-US" sz="1000" dirty="0"/>
          </a:p>
        </p:txBody>
      </p:sp>
      <p:sp>
        <p:nvSpPr>
          <p:cNvPr id="103" name="Shape 99"/>
          <p:cNvSpPr/>
          <p:nvPr/>
        </p:nvSpPr>
        <p:spPr>
          <a:xfrm>
            <a:off x="3046171" y="4764024"/>
            <a:ext cx="343205" cy="859536"/>
          </a:xfrm>
          <a:prstGeom prst="roundRect">
            <a:avLst>
              <a:gd name="adj" fmla="val 13321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104" name="Text 100"/>
          <p:cNvSpPr txBox="1"/>
          <p:nvPr/>
        </p:nvSpPr>
        <p:spPr>
          <a:xfrm>
            <a:off x="3027883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</a:t>
            </a:r>
            <a:endParaRPr lang="en-US" sz="1400" dirty="0"/>
          </a:p>
        </p:txBody>
      </p:sp>
      <p:sp>
        <p:nvSpPr>
          <p:cNvPr id="105" name="Text 101"/>
          <p:cNvSpPr txBox="1"/>
          <p:nvPr/>
        </p:nvSpPr>
        <p:spPr>
          <a:xfrm>
            <a:off x="3027883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38</a:t>
            </a:r>
            <a:endParaRPr lang="en-US" sz="1000" dirty="0"/>
          </a:p>
        </p:txBody>
      </p:sp>
      <p:sp>
        <p:nvSpPr>
          <p:cNvPr id="106" name="Text 102"/>
          <p:cNvSpPr txBox="1"/>
          <p:nvPr/>
        </p:nvSpPr>
        <p:spPr>
          <a:xfrm>
            <a:off x="3027883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55</a:t>
            </a:r>
            <a:endParaRPr lang="en-US" sz="1000" dirty="0"/>
          </a:p>
        </p:txBody>
      </p:sp>
      <p:sp>
        <p:nvSpPr>
          <p:cNvPr id="107" name="Text 103"/>
          <p:cNvSpPr txBox="1"/>
          <p:nvPr/>
        </p:nvSpPr>
        <p:spPr>
          <a:xfrm>
            <a:off x="3787445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</a:t>
            </a:r>
            <a:endParaRPr lang="en-US" sz="1400" dirty="0"/>
          </a:p>
        </p:txBody>
      </p:sp>
      <p:sp>
        <p:nvSpPr>
          <p:cNvPr id="108" name="Text 104"/>
          <p:cNvSpPr txBox="1"/>
          <p:nvPr/>
        </p:nvSpPr>
        <p:spPr>
          <a:xfrm>
            <a:off x="3787445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50</a:t>
            </a:r>
            <a:endParaRPr lang="en-US" sz="1000" dirty="0"/>
          </a:p>
        </p:txBody>
      </p:sp>
      <p:sp>
        <p:nvSpPr>
          <p:cNvPr id="109" name="Text 105"/>
          <p:cNvSpPr txBox="1"/>
          <p:nvPr/>
        </p:nvSpPr>
        <p:spPr>
          <a:xfrm>
            <a:off x="3787445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49</a:t>
            </a:r>
            <a:endParaRPr lang="en-US" sz="1000" dirty="0"/>
          </a:p>
        </p:txBody>
      </p:sp>
      <p:sp>
        <p:nvSpPr>
          <p:cNvPr id="110" name="Text 106"/>
          <p:cNvSpPr txBox="1"/>
          <p:nvPr/>
        </p:nvSpPr>
        <p:spPr>
          <a:xfrm>
            <a:off x="4167226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Е</a:t>
            </a:r>
            <a:endParaRPr lang="en-US" sz="1400" dirty="0"/>
          </a:p>
        </p:txBody>
      </p:sp>
      <p:sp>
        <p:nvSpPr>
          <p:cNvPr id="111" name="Text 107"/>
          <p:cNvSpPr txBox="1"/>
          <p:nvPr/>
        </p:nvSpPr>
        <p:spPr>
          <a:xfrm>
            <a:off x="4167226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63</a:t>
            </a:r>
            <a:endParaRPr lang="en-US" sz="1000" dirty="0"/>
          </a:p>
        </p:txBody>
      </p:sp>
      <p:sp>
        <p:nvSpPr>
          <p:cNvPr id="112" name="Text 108"/>
          <p:cNvSpPr txBox="1"/>
          <p:nvPr/>
        </p:nvSpPr>
        <p:spPr>
          <a:xfrm>
            <a:off x="4167226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36</a:t>
            </a:r>
            <a:endParaRPr lang="en-US" sz="1000" dirty="0"/>
          </a:p>
        </p:txBody>
      </p:sp>
      <p:sp>
        <p:nvSpPr>
          <p:cNvPr id="113" name="Text 109"/>
          <p:cNvSpPr txBox="1"/>
          <p:nvPr/>
        </p:nvSpPr>
        <p:spPr>
          <a:xfrm>
            <a:off x="4547006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</a:t>
            </a:r>
            <a:endParaRPr lang="en-US" sz="1400" dirty="0"/>
          </a:p>
        </p:txBody>
      </p:sp>
      <p:sp>
        <p:nvSpPr>
          <p:cNvPr id="114" name="Text 110"/>
          <p:cNvSpPr txBox="1"/>
          <p:nvPr/>
        </p:nvSpPr>
        <p:spPr>
          <a:xfrm>
            <a:off x="4547006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59</a:t>
            </a:r>
            <a:endParaRPr lang="en-US" sz="1000" dirty="0"/>
          </a:p>
        </p:txBody>
      </p:sp>
      <p:sp>
        <p:nvSpPr>
          <p:cNvPr id="115" name="Text 111"/>
          <p:cNvSpPr txBox="1"/>
          <p:nvPr/>
        </p:nvSpPr>
        <p:spPr>
          <a:xfrm>
            <a:off x="4547006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35</a:t>
            </a:r>
            <a:endParaRPr lang="en-US" sz="1000" dirty="0"/>
          </a:p>
        </p:txBody>
      </p:sp>
      <p:sp>
        <p:nvSpPr>
          <p:cNvPr id="116" name="Text 112"/>
          <p:cNvSpPr txBox="1"/>
          <p:nvPr/>
        </p:nvSpPr>
        <p:spPr>
          <a:xfrm>
            <a:off x="4926787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</a:t>
            </a:r>
            <a:endParaRPr lang="en-US" sz="1400" dirty="0"/>
          </a:p>
        </p:txBody>
      </p:sp>
      <p:sp>
        <p:nvSpPr>
          <p:cNvPr id="117" name="Text 113"/>
          <p:cNvSpPr txBox="1"/>
          <p:nvPr/>
        </p:nvSpPr>
        <p:spPr>
          <a:xfrm>
            <a:off x="4926787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80</a:t>
            </a:r>
            <a:endParaRPr lang="en-US" sz="1000" dirty="0"/>
          </a:p>
        </p:txBody>
      </p:sp>
      <p:sp>
        <p:nvSpPr>
          <p:cNvPr id="118" name="Text 114"/>
          <p:cNvSpPr txBox="1"/>
          <p:nvPr/>
        </p:nvSpPr>
        <p:spPr>
          <a:xfrm>
            <a:off x="4926787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19" name="Text 115"/>
          <p:cNvSpPr txBox="1"/>
          <p:nvPr/>
        </p:nvSpPr>
        <p:spPr>
          <a:xfrm>
            <a:off x="5306568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Е</a:t>
            </a:r>
            <a:endParaRPr lang="en-US" sz="1400" dirty="0"/>
          </a:p>
        </p:txBody>
      </p:sp>
      <p:sp>
        <p:nvSpPr>
          <p:cNvPr id="120" name="Text 116"/>
          <p:cNvSpPr txBox="1"/>
          <p:nvPr/>
        </p:nvSpPr>
        <p:spPr>
          <a:xfrm>
            <a:off x="5306568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69</a:t>
            </a:r>
            <a:endParaRPr lang="en-US" sz="1000" dirty="0"/>
          </a:p>
        </p:txBody>
      </p:sp>
      <p:sp>
        <p:nvSpPr>
          <p:cNvPr id="121" name="Text 117"/>
          <p:cNvSpPr txBox="1"/>
          <p:nvPr/>
        </p:nvSpPr>
        <p:spPr>
          <a:xfrm>
            <a:off x="5306568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122" name="Text 118"/>
          <p:cNvSpPr txBox="1"/>
          <p:nvPr/>
        </p:nvSpPr>
        <p:spPr>
          <a:xfrm>
            <a:off x="5686349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Е</a:t>
            </a:r>
            <a:endParaRPr lang="en-US" sz="1400" dirty="0"/>
          </a:p>
        </p:txBody>
      </p:sp>
      <p:sp>
        <p:nvSpPr>
          <p:cNvPr id="123" name="Text 119"/>
          <p:cNvSpPr txBox="1"/>
          <p:nvPr/>
        </p:nvSpPr>
        <p:spPr>
          <a:xfrm>
            <a:off x="5686349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74</a:t>
            </a:r>
            <a:endParaRPr lang="en-US" sz="1000" dirty="0"/>
          </a:p>
        </p:txBody>
      </p:sp>
      <p:sp>
        <p:nvSpPr>
          <p:cNvPr id="124" name="Text 120"/>
          <p:cNvSpPr txBox="1"/>
          <p:nvPr/>
        </p:nvSpPr>
        <p:spPr>
          <a:xfrm>
            <a:off x="5686349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125" name="Text 121"/>
          <p:cNvSpPr txBox="1"/>
          <p:nvPr/>
        </p:nvSpPr>
        <p:spPr>
          <a:xfrm>
            <a:off x="6066130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</a:t>
            </a:r>
            <a:endParaRPr lang="en-US" sz="1400" dirty="0"/>
          </a:p>
        </p:txBody>
      </p:sp>
      <p:sp>
        <p:nvSpPr>
          <p:cNvPr id="126" name="Text 122"/>
          <p:cNvSpPr txBox="1"/>
          <p:nvPr/>
        </p:nvSpPr>
        <p:spPr>
          <a:xfrm>
            <a:off x="6066130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54</a:t>
            </a:r>
            <a:endParaRPr lang="en-US" sz="1000" dirty="0"/>
          </a:p>
        </p:txBody>
      </p:sp>
      <p:sp>
        <p:nvSpPr>
          <p:cNvPr id="127" name="Text 123"/>
          <p:cNvSpPr txBox="1"/>
          <p:nvPr/>
        </p:nvSpPr>
        <p:spPr>
          <a:xfrm>
            <a:off x="6066130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43</a:t>
            </a:r>
            <a:endParaRPr lang="en-US" sz="1000" dirty="0"/>
          </a:p>
        </p:txBody>
      </p:sp>
      <p:sp>
        <p:nvSpPr>
          <p:cNvPr id="128" name="Text 124"/>
          <p:cNvSpPr txBox="1"/>
          <p:nvPr/>
        </p:nvSpPr>
        <p:spPr>
          <a:xfrm>
            <a:off x="6445910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</a:t>
            </a:r>
            <a:endParaRPr lang="en-US" sz="1400" dirty="0"/>
          </a:p>
        </p:txBody>
      </p:sp>
      <p:sp>
        <p:nvSpPr>
          <p:cNvPr id="129" name="Text 125"/>
          <p:cNvSpPr txBox="1"/>
          <p:nvPr/>
        </p:nvSpPr>
        <p:spPr>
          <a:xfrm>
            <a:off x="6445910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79</a:t>
            </a:r>
            <a:endParaRPr lang="en-US" sz="1000" dirty="0"/>
          </a:p>
        </p:txBody>
      </p:sp>
      <p:sp>
        <p:nvSpPr>
          <p:cNvPr id="130" name="Text 126"/>
          <p:cNvSpPr txBox="1"/>
          <p:nvPr/>
        </p:nvSpPr>
        <p:spPr>
          <a:xfrm>
            <a:off x="6445910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1" name="Text 127"/>
          <p:cNvSpPr txBox="1"/>
          <p:nvPr/>
        </p:nvSpPr>
        <p:spPr>
          <a:xfrm>
            <a:off x="6825691" y="4764024"/>
            <a:ext cx="379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Ч</a:t>
            </a:r>
            <a:endParaRPr lang="en-US" sz="1400" dirty="0"/>
          </a:p>
        </p:txBody>
      </p:sp>
      <p:sp>
        <p:nvSpPr>
          <p:cNvPr id="132" name="Text 128"/>
          <p:cNvSpPr txBox="1"/>
          <p:nvPr/>
        </p:nvSpPr>
        <p:spPr>
          <a:xfrm>
            <a:off x="6825691" y="5111496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64</a:t>
            </a:r>
            <a:endParaRPr lang="en-US" sz="1000" dirty="0"/>
          </a:p>
        </p:txBody>
      </p:sp>
      <p:sp>
        <p:nvSpPr>
          <p:cNvPr id="133" name="Text 129"/>
          <p:cNvSpPr txBox="1"/>
          <p:nvPr/>
        </p:nvSpPr>
        <p:spPr>
          <a:xfrm>
            <a:off x="6825691" y="5367528"/>
            <a:ext cx="3797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—</a:t>
            </a:r>
            <a:endParaRPr lang="en-US" sz="1000" dirty="0"/>
          </a:p>
        </p:txBody>
      </p:sp>
      <p:sp>
        <p:nvSpPr>
          <p:cNvPr id="134" name="Text 130"/>
          <p:cNvSpPr txBox="1"/>
          <p:nvPr/>
        </p:nvSpPr>
        <p:spPr>
          <a:xfrm>
            <a:off x="777240" y="5687568"/>
            <a:ext cx="6428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Русские и латинские Р, Н, С, В на фото одинаковые — нейросеть делит голоса почти поровну, отсюда 0,64. </a:t>
            </a:r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Итог по полю — принято: при 0,64 нужны два подтверждения, и они есть — заявка и строка ROMAN SERGEEVICH (0,95).</a:t>
            </a:r>
            <a:endParaRPr lang="en-US" sz="1050" dirty="0"/>
          </a:p>
        </p:txBody>
      </p:sp>
      <p:sp>
        <p:nvSpPr>
          <p:cNvPr id="135" name="Shape 131"/>
          <p:cNvSpPr/>
          <p:nvPr/>
        </p:nvSpPr>
        <p:spPr>
          <a:xfrm>
            <a:off x="7571232" y="3703320"/>
            <a:ext cx="4023360" cy="256032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</p:sp>
      <p:pic>
        <p:nvPicPr>
          <p:cNvPr id="1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886200"/>
            <a:ext cx="292608" cy="292608"/>
          </a:xfrm>
          <a:prstGeom prst="rect">
            <a:avLst/>
          </a:prstGeom>
        </p:spPr>
      </p:pic>
      <p:sp>
        <p:nvSpPr>
          <p:cNvPr id="137" name="Text 132"/>
          <p:cNvSpPr txBox="1"/>
          <p:nvPr/>
        </p:nvSpPr>
        <p:spPr>
          <a:xfrm>
            <a:off x="8165592" y="38862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ЧТО ВАЖНО ПОМНИТЬ</a:t>
            </a:r>
            <a:endParaRPr lang="en-US" sz="1050" dirty="0"/>
          </a:p>
        </p:txBody>
      </p:sp>
      <p:sp>
        <p:nvSpPr>
          <p:cNvPr id="138" name="Text 133"/>
          <p:cNvSpPr txBox="1"/>
          <p:nvPr/>
        </p:nvSpPr>
        <p:spPr>
          <a:xfrm>
            <a:off x="7772400" y="4306824"/>
            <a:ext cx="3621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Уверенность — самооценка нейросети, а не гарантия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Её снижают похожие символы (Р/P, С/C, О/0), пробелы, блики, размытость, печать поверх текста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Оценка своя у каждого фото: «РОМАН» в паспорте — 0,99, в ВУ — 0,64. Здесь сырые оценки, до настройки со слайда 26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Низкая оценка ≠ ручная проверка: поле принимают подтверждения — пороги на следующем слайде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РАСПОЗНАВАНИЕ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Как принимается решение: пороги и правила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544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ПОРОГИ УВЕРЕННОСТИ ДЛЯ КАЖДОГО ПОЛЯ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901952"/>
            <a:ext cx="1652016" cy="38404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901952"/>
            <a:ext cx="1652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ниже 0,60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95728"/>
            <a:ext cx="156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5"/>
                </a:solidFill>
              </a:rPr>
              <a:t>Перезагрузить документ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52928"/>
            <a:ext cx="1569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Поле не читается надёжно — агент получает запрос на новое фото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01240" y="1901952"/>
            <a:ext cx="1652016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01240" y="1901952"/>
            <a:ext cx="1652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0,60–0,95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346960" y="2395728"/>
            <a:ext cx="156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Решают подтверждения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346960" y="2852928"/>
            <a:ext cx="1569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От 0,80 — одно, от 0,60 — два: заявка, формат, латинская строка, вторая копия номера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08120" y="1901952"/>
            <a:ext cx="1652016" cy="38404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08120" y="1901952"/>
            <a:ext cx="1652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от 0,95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053840" y="2395728"/>
            <a:ext cx="156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Принято автоматически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53840" y="2852928"/>
            <a:ext cx="1569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Если правила пройдены и данные совпали с заявкой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5120640" cy="731520"/>
          </a:xfrm>
          <a:prstGeom prst="roundRect">
            <a:avLst>
              <a:gd name="adj" fmla="val 7500"/>
            </a:avLst>
          </a:prstGeom>
          <a:solidFill>
            <a:schemeClr val="accent3">
              <a:alpha val="10000"/>
            </a:scheme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33088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34440" y="3931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Расхождение с заявкой при высокой уверенности — например, другое ФИО в ВУ — даёт «Отказ с причиной»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" y="4754880"/>
            <a:ext cx="5120640" cy="713232"/>
          </a:xfrm>
          <a:prstGeom prst="roundRect">
            <a:avLst>
              <a:gd name="adj" fmla="val 7692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946904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34440" y="475488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Пример: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в ВУ «РОМАН СЕРГЕЕВИЧ» без настройки — 0,64 → нужны два подтверждения → совпало с заявкой и латинской строкой → принято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035040" y="1554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ПРАВИЛА ПРОВЕРКИ ПОЛЕЙ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74520"/>
          <a:ext cx="555955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Поле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Правило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Паспорт РФ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Серия — 4 цифры, номер — 6 цифр; дата выдачи позже даты рождения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ВУ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Серия — 4 знака, номер — 6 цифр; срок действия не истёк на дату погрузки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Категория ВУ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Для грузовика — C, для тягача — CE; не найдена — решает человек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Госномер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Буква, 3 цифры, 2 буквы, регион 2–3 цифры; только буквы А В Е К М Н О Р С Т У Х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VIN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17 символов, без букв I, O, Q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ФИО и дата рождения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Совпадают с заявкой; е/ё, регистр и пробелы — не ошибка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Собственник по СТС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Может отличаться от водителя — это не ошибка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594360" y="5577840"/>
            <a:ext cx="11000232" cy="621792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33288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07592" y="565099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НАСТРОЙКА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Пороги и правила меняет администратор в настройках сервиса — без программиста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РЕАЛЬНЫЕ ДОКУМЕНТЫ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Реальное фото паспорта: принято автоматически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" y="1536192"/>
            <a:ext cx="4295851" cy="470001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ocr_real\passport_main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4259275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7955" y="155448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127955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Передать дальше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42555" y="1554480"/>
            <a:ext cx="3952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фото с телефона · 77 с на ноутбуке · без обучения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7955" y="2103120"/>
          <a:ext cx="6466637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08760"/>
                <a:gridCol w="594360"/>
                <a:gridCol w="29004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Поле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Прочитано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Увер.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Чем подтверждено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Фамилия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КОТЕЛЬНИКОВ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0,989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заявка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Имя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РОМАН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0,996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заявка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Отчество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СЕРГЕЕВИЧ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0,984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заявка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Дата рождения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25.02.2004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0,999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заявка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Серия и номер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03 23 762340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0,998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 копии на полях совпали · заявка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Дата выдачи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10.04.2024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0,998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выдан после рождения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Код подразделения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230-027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0,999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формат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127955" y="4206240"/>
            <a:ext cx="646663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Все оценки от 0,95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поля приняты по уверенности, заявка — дополнительное подтверждение. ФИО — с настройкой «только русские буквы» (слайд 26)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127955" y="4663440"/>
            <a:ext cx="6466637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356555" y="4663440"/>
            <a:ext cx="600943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СЕРИЯ И НОМЕР — С ПОЛЕЙ СТРАНИЦЫ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Номер напечатан вертикально на полях обеих страниц. Код вырезает эту полоску, поворачивает, увеличивает и читает ещё раз: «03 23 762340» — 0,998, обе копии совпали между собой и с заявкой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РЕАЛЬНЫЕ ДОКУМЕНТЫ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Реальные фото: ВУ и страница регистрации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" y="1536192"/>
            <a:ext cx="3600658" cy="22768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ocr_real\driver_licens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3564082" cy="2240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478482" y="1554480"/>
            <a:ext cx="46472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Водительское удостоверение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308592" y="1554480"/>
            <a:ext cx="22860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08592" y="15544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Ручная проверка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478482" y="1920240"/>
            <a:ext cx="71161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50 с на ноутбуке · фото с телефона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478482" y="2286000"/>
            <a:ext cx="71161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Ручная проверка — из-за категорий: прочитаны B, B1, M, а C и CE для тягача нет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Категории — повторным чтением поля 9 крупнее: первый проход видел только B1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Остальные 6 полей приняты; дата выдачи + 10 лет совпала с датой окончания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" y="3959352"/>
            <a:ext cx="3552571" cy="22768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2" name="Image 1" descr="C:\Users\AUSU\AppData\Local\Temp\claude\C--Users-AUSU-AppData-Roaming-Claude-scratch-workspaces-df4f2ee2-a8e1-461b-99f8-8cb626bf5d2c-1a6b44f4-be1d-4046-a9de-d7401fd383dd-scratch-2026-10-17-758bbc\5dc94fe1-9a32-48b5-89fc-3a130279f71f\scratchpad\build\assets\ocr_real\passport_registration_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977640"/>
            <a:ext cx="3515995" cy="22402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78482" y="3977640"/>
            <a:ext cx="46472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Страница регистрации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308592" y="3977640"/>
            <a:ext cx="22860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308592" y="3977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Ручная проверка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478482" y="4343400"/>
            <a:ext cx="71161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24 с на ноутбуке · фото с телефона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478482" y="4709160"/>
            <a:ext cx="71161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Ручная проверка — из-за адреса: штамп прочитан с ошибками (оценка от 0,49)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Дата регистрации и код подразделения приняты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478482" y="5715000"/>
            <a:ext cx="7116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Рамка на фото — итог по полю: зелёная — принято, синяя — решает человек. Число рядом — уверенность нейросети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ОБРАЗЦЫ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Другие исходы: размытое фото, чужой водитель, СТС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44824" cy="466344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ocr\vu_blurry_annota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270504" cy="22627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404586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Размытое фото ВУ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4439052"/>
            <a:ext cx="3179064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4439052"/>
            <a:ext cx="3179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Перезагрузить документ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896252"/>
            <a:ext cx="3179064" cy="123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Резкость 1,7 при пороге 60 — проверка полей даже не нужна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Агент сразу получает запрос на новое фото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2064" y="1554480"/>
            <a:ext cx="3544824" cy="466344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1" name="Image 1" descr="C:\Users\AUSU\AppData\Local\Temp\claude\C--Users-AUSU-AppData-Roaming-Claude-scratch-workspaces-df4f2ee2-a8e1-461b-99f8-8cb626bf5d2c-1a6b44f4-be1d-4046-a9de-d7401fd383dd-scratch-2026-10-17-758bbc\5dc94fe1-9a32-48b5-89fc-3a130279f71f\scratchpad\build\assets\ocr\vu_wrong_driver_annotat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224" y="1691640"/>
            <a:ext cx="3270504" cy="22627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4944" y="404586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Образец ВУ против заявки Z-1043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04944" y="4439052"/>
            <a:ext cx="3179064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04944" y="4439052"/>
            <a:ext cx="3179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Отказ с причиной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04944" y="4896252"/>
            <a:ext cx="3179064" cy="123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Фамилия, дата рождения и номер ВУ прочитаны уверенно (от 0,95), но не совпадают с заявкой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Агент видит, какие именно поля расходятся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9768" y="1554480"/>
            <a:ext cx="3544824" cy="4663440"/>
          </a:xfrm>
          <a:prstGeom prst="roundRect">
            <a:avLst>
              <a:gd name="adj" fmla="val 206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7" name="Image 2" descr="C:\Users\AUSU\AppData\Local\Temp\claude\C--Users-AUSU-AppData-Roaming-Claude-scratch-workspaces-df4f2ee2-a8e1-461b-99f8-8cb626bf5d2c-1a6b44f4-be1d-4046-a9de-d7401fd383dd-scratch-2026-10-17-758bbc\5dc94fe1-9a32-48b5-89fc-3a130279f71f\scratchpad\build\assets\ocr\sts_ok_annotat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928" y="1691640"/>
            <a:ext cx="3270504" cy="22627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32648" y="4045860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СТС тягача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232648" y="4439052"/>
            <a:ext cx="3179064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32648" y="4439052"/>
            <a:ext cx="3179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Передать дальше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232648" y="4896252"/>
            <a:ext cx="3179064" cy="123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Госномер А123ВС777 и VIN прочитаны с уверенностью 0,996–0,998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Латинские буквы в номере приведены к кириллице, оба поля совпали с заявкой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РАСПОЗНАВАНИЕ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Как запустить распознавание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Установка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6002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Две команды; три модели скачиваются сами при первом запуске — на ноутбуке около 10 минут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6629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7249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Сервис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5146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Python-сервис на сервере завода: площадка отправляет фото, получает поля и статус в JSON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337560"/>
            <a:ext cx="6629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6393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Шаблоны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34290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Паспорт, ВУ, СТС и регистрация — уже написаны и проверены на реальных фото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251960"/>
            <a:ext cx="6629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5537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343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Проверка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43434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На 50–100 реальных фото от агентов: точность полей и доля ручной проверки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166360"/>
            <a:ext cx="6629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4681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5257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Решение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52578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Хватает качества — в работу. Не хватает — настройки и дообучение (дальше), в крайнем случае готовое SDK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589520" y="1554480"/>
            <a:ext cx="4005072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18120" y="169164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ЗАПУСК НА НОУТБУКЕ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2011680"/>
            <a:ext cx="3639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установка, один раз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paddlepaddle==3.3.1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paddleocr==3.7.0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проверить фото по заявке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recognize.py ^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photo.jpg requests\Z-1042.json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out\photo.json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"status_ru": "Передать дальше",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"fields":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"label": "Фамилия",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"value": "ИВАНОВ",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"conf": 0.976 }, … ] 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4983480"/>
            <a:ext cx="4005072" cy="1234440"/>
          </a:xfrm>
          <a:prstGeom prst="roundRect">
            <a:avLst>
              <a:gd name="adj" fmla="val 5926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138928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8156448" y="5029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СКОРОСТЬ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25–90 с на одно фото на процессоре, без видеокарты. Видеокарта ускоряет, но не обязательна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КАЧЕСТВО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Как повысить качество без обучения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486400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73736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29768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работает в коде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Только русские буквы в ФИО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848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Голоса латинских двойников (P/Р, H/Н, C/С…) переходят к русским буквам, остальная латиница запрещается. Нейросеть та же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06040"/>
          <a:ext cx="50292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  <a:gridCol w="6858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Документ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Поле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Было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Стало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ВУ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КОТЕЛЬНИКОВ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0,979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0,992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ВУ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РОМАН СЕРГЕЕВИЧ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0,638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0,947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Паспорт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КОТЕЛЬНИКОВ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0,947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0,989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Паспорт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РОМАН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0,989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0,996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Паспорт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СЕРГЕЕВИЧ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0,926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0,984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4617720"/>
            <a:ext cx="5029200" cy="713232"/>
          </a:xfrm>
          <a:prstGeom prst="roundRect">
            <a:avLst>
              <a:gd name="adj" fmla="val 7692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4617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На штамп не включаем: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в пробном прогоне строка «…АБИНСК, УЛ.» стала «АБИНСКУЙ» с оценкой 0,812 — оценка выросла, а текст неверный. Для штампов — сверка с заявкой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55448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ЕЩЁ БЕЗ ОБУЧЕНИЯ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938528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3851" y="2023019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12280" y="19019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Сверка вместо чтения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0268712" y="1901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наш код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6812280" y="2176272"/>
            <a:ext cx="47823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ФИО, адрес и номера уже есть в заявке: проверяем совпадение, прощая пару букв. Для штампа регистрации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09360" y="2655418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851" y="2739908"/>
            <a:ext cx="215067" cy="21506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12280" y="261884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Повторное чтение крупнее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0268712" y="261884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уже работает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812280" y="2893162"/>
            <a:ext cx="47823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Вырезать, повернуть, увеличить и прочитать ещё раз. Уже читает серию и номер паспорта и все категории ВУ; дальше — штамп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09360" y="3372307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851" y="3456798"/>
            <a:ext cx="215067" cy="21506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12280" y="3335731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Выпрямление и поворот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0268712" y="3335731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PaddleOCR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6812280" y="3610051"/>
            <a:ext cx="47823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Модули для изогнутой страницы и поворота документа — сейчас выключены. Для паспорта в руке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309360" y="4089197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851" y="4173687"/>
            <a:ext cx="215067" cy="21506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812280" y="4052621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Словари и форматы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10268712" y="4052621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наш код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6812280" y="4326941"/>
            <a:ext cx="47823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Отчества на -ВИЧ/-ВНА, регионы, коды ГИБДД — исправляют пробелы и буквы: «ИВАНИВАНОВИЧ»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309360" y="480608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851" y="4890577"/>
            <a:ext cx="215067" cy="21506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812280" y="476951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Проверка фото у агента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10268712" y="476951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кабинет агента</a:t>
            </a:r>
            <a:endParaRPr lang="en-US" sz="950" dirty="0"/>
          </a:p>
        </p:txBody>
      </p:sp>
      <p:sp>
        <p:nvSpPr>
          <p:cNvPr id="37" name="Text 29"/>
          <p:cNvSpPr txBox="1"/>
          <p:nvPr/>
        </p:nvSpPr>
        <p:spPr>
          <a:xfrm>
            <a:off x="6812280" y="5043830"/>
            <a:ext cx="47823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Блики на ламинате, размытость, документ не целиком — агент сразу видит «переснимите»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594360" y="5623560"/>
            <a:ext cx="11000232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65292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307592" y="5696712"/>
            <a:ext cx="10058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БЕЗ ОБУЧЕНИЯ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Все меры — правки в нашем коде и настройках: нейросеть та же, ставится как есть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КАЧЕСТВО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Дообучение — если настроек не хватит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944014" cy="201168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6310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2631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Подтверждено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52928"/>
            <a:ext cx="15782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Логист сверил фото и данные — заявка ушла в 1С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84094" y="256032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58414" y="1554480"/>
            <a:ext cx="1944014" cy="201168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1294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37" y="1848002"/>
            <a:ext cx="281635" cy="28163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90365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290365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41294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Верные данные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041294" y="2852928"/>
            <a:ext cx="15782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ФИО, номера и даты проверены человеком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48149" y="256032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2469" y="1554480"/>
            <a:ext cx="1944014" cy="201168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5349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91" y="1848002"/>
            <a:ext cx="281635" cy="28163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54419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554419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305349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Строки с фото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305349" y="2852928"/>
            <a:ext cx="15782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Код вырезает строки и подписывает их верным текстом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112203" y="256032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86523" y="1554480"/>
            <a:ext cx="1944014" cy="201168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69403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46" y="1848002"/>
            <a:ext cx="281635" cy="28163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818474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18474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569403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Дообучение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7569403" y="2852928"/>
            <a:ext cx="15782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Нейросеть №3 учится на наших шрифтах: паспорт, ВУ, штампы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376258" y="256032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650578" y="1554480"/>
            <a:ext cx="1944014" cy="2011680"/>
          </a:xfrm>
          <a:prstGeom prst="roundRect">
            <a:avLst>
              <a:gd name="adj" fmla="val 376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833458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1848002"/>
            <a:ext cx="281635" cy="28163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1082528" y="18196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1108252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833458" y="237744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Проверка</a:t>
            </a:r>
            <a:endParaRPr lang="en-US" sz="1350" dirty="0"/>
          </a:p>
        </p:txBody>
      </p:sp>
      <p:sp>
        <p:nvSpPr>
          <p:cNvPr id="42" name="Text 35"/>
          <p:cNvSpPr txBox="1"/>
          <p:nvPr/>
        </p:nvSpPr>
        <p:spPr>
          <a:xfrm>
            <a:off x="9833458" y="2852928"/>
            <a:ext cx="15782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 работу — только если ошибок меньше, чем у прежней версии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594360" y="3794760"/>
            <a:ext cx="3544824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23360"/>
            <a:ext cx="310896" cy="310896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234440" y="4023360"/>
            <a:ext cx="2721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СКОЛЬКО НУЖНО ДАННЫХ</a:t>
            </a:r>
            <a:endParaRPr lang="en-US" sz="1050" dirty="0"/>
          </a:p>
        </p:txBody>
      </p:sp>
      <p:sp>
        <p:nvSpPr>
          <p:cNvPr id="46" name="Text 38"/>
          <p:cNvSpPr txBox="1"/>
          <p:nvPr/>
        </p:nvSpPr>
        <p:spPr>
          <a:xfrm>
            <a:off x="822960" y="443484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По рекомендации PaddleOCR: для чтения — от 5 000 строк, для поиска строк — от 500 фото. С документа берём около 10 проверенных строк — это примерно 500 документов. Размечать вручную не нужно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4322064" y="3794760"/>
            <a:ext cx="3544824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664" y="4023360"/>
            <a:ext cx="310896" cy="310896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4962144" y="4023360"/>
            <a:ext cx="2721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ЧТО ДАЁТ</a:t>
            </a:r>
            <a:endParaRPr lang="en-US" sz="1050" dirty="0"/>
          </a:p>
        </p:txBody>
      </p:sp>
      <p:sp>
        <p:nvSpPr>
          <p:cNvPr id="50" name="Text 41"/>
          <p:cNvSpPr txBox="1"/>
          <p:nvPr/>
        </p:nvSpPr>
        <p:spPr>
          <a:xfrm>
            <a:off x="4550664" y="443484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Нейросеть привыкает к нашим шрифтам, штампам и бликам ламината. Можно добавить больше строк с пробелами — PaddleOCR советует так делать, если пробелы важны</a:t>
            </a:r>
            <a:endParaRPr lang="en-US" sz="1150" dirty="0"/>
          </a:p>
        </p:txBody>
      </p:sp>
      <p:sp>
        <p:nvSpPr>
          <p:cNvPr id="51" name="Shape 42"/>
          <p:cNvSpPr/>
          <p:nvPr/>
        </p:nvSpPr>
        <p:spPr>
          <a:xfrm>
            <a:off x="8049768" y="3794760"/>
            <a:ext cx="3544824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368" y="4023360"/>
            <a:ext cx="310896" cy="310896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8689848" y="4023360"/>
            <a:ext cx="2721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УСЛОВИЯ</a:t>
            </a:r>
            <a:endParaRPr lang="en-US" sz="1050" dirty="0"/>
          </a:p>
        </p:txBody>
      </p:sp>
      <p:sp>
        <p:nvSpPr>
          <p:cNvPr id="54" name="Text 44"/>
          <p:cNvSpPr txBox="1"/>
          <p:nvPr/>
        </p:nvSpPr>
        <p:spPr>
          <a:xfrm>
            <a:off x="8278368" y="443484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Обучение — только на сервере завода: это персональные данные. Видеокарта нужна на время обучения, для работы — нет. Прежняя версия остаётся для отката</a:t>
            </a:r>
            <a:endParaRPr lang="en-US" sz="1150" dirty="0"/>
          </a:p>
        </p:txBody>
      </p:sp>
      <p:sp>
        <p:nvSpPr>
          <p:cNvPr id="55" name="Shape 45"/>
          <p:cNvSpPr/>
          <p:nvPr/>
        </p:nvSpPr>
        <p:spPr>
          <a:xfrm>
            <a:off x="594360" y="5623560"/>
            <a:ext cx="11000232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765292"/>
            <a:ext cx="310896" cy="310896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1307592" y="5696712"/>
            <a:ext cx="10058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КОГДА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Для старта дообучение не нужно — это следующий шаг, если после настроек цифры не устроят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API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Как площадка связана с 1С: обмен по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017520" cy="242316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83080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836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Веб-платформа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3774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REST API, формат JSON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база данных PostgreSQL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хранилище файлов документов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журнал событий по заявкам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77072" y="1600200"/>
            <a:ext cx="3017520" cy="2423160"/>
          </a:xfrm>
          <a:prstGeom prst="roundRect">
            <a:avLst>
              <a:gd name="adj" fmla="val 3019"/>
            </a:avLst>
          </a:prstGeom>
          <a:solidFill>
            <a:schemeClr val="tx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8105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32688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1С:ERP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778240" y="23774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регламентное задание «Обмен с площадкой»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документ «Заявка на привлечённый транспорт»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HTTPСоединение, ЧтениеJSON — типовые средства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журнал обмена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164592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1С ОТПРАВЛЯЕТ НА ПЛОЩАДКУ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 flipH="1">
            <a:off x="3685032" y="1993392"/>
            <a:ext cx="481888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3840480" y="208483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заявки к публикации · перевозчики с договором (допуск) · статусы: ЭТрН, пропуск, рейс закрыт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840480" y="28346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1С ЗАБИРАЕТ С ПЛОЩАДКИ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85032" y="3182112"/>
            <a:ext cx="481888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3840480" y="32735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победитель и ставка · водитель, ТС, прицеп · сканы документов · статусы проверки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94360" y="4251960"/>
            <a:ext cx="2612898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1713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441655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Обмен запускает 1С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777240" y="4983480"/>
            <a:ext cx="2247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Раз в 1–2 минуты и кнопкой «Обменяться сейчас»; входящих подключений во внутреннюю сеть нет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390138" y="4251960"/>
            <a:ext cx="2612898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573018" y="4416552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602" y="451713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167378" y="441655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Сквозной ключ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3573018" y="4983480"/>
            <a:ext cx="2247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Номер заявки 1С — один для 1С, площадки и документов; повтор не создаёт дублей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185916" y="4251960"/>
            <a:ext cx="2612898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368796" y="4416552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451713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963156" y="441655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Защита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6368796" y="4983480"/>
            <a:ext cx="2247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Только HTTPS и доступ по токену; 1С видит площадку, площадка 1С — нет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981694" y="4251960"/>
            <a:ext cx="2612898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9164574" y="4416552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5158" y="4517136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58934" y="4416552"/>
            <a:ext cx="1698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Надёжность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9164574" y="4983480"/>
            <a:ext cx="2247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При сбое связи обмен повторяется; каждое сообщение — в журнале обмена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API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Методы API и формат данных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611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Метод площадки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Что делает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/api/v1/requests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1С публикует заявку на площадке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 /api/v1/requests/{номер}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1С меняет или снимает заявку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/api/v1/carriers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1С передаёт перевозчиков с договором — допуск к площадке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/api/v1/events?after={id}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1С забирает новые события: победитель, документы проверены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/api/v1/requests/{номер}/package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1С получает проверенные данные: водитель, ТС, прицеп, ставка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/api/v1/files/{id}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1С скачивает скан документа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/api/v1/requests/{номер}/status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1С сообщает статус: ЭТрН отправлена, пропуск, рейс закрыт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892040"/>
            <a:ext cx="6766560" cy="1325880"/>
          </a:xfrm>
          <a:prstGeom prst="roundRect">
            <a:avLst>
              <a:gd name="adj" fmla="val 551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89204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Формат: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JSON в UTF-8; даты — ГГГГ-ММ-ДД; суммы — в рублях целым числом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Версии: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адрес /api/v1/ — новые поля добавляются без поломки обмена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Описание: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спецификация OpenAPI — по ней программист 1С пишет обмен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589520" y="1600200"/>
            <a:ext cx="4005072" cy="4617720"/>
          </a:xfrm>
          <a:prstGeom prst="roundRect">
            <a:avLst>
              <a:gd name="adj" fmla="val 1826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18120" y="17373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ПРИМЕР: ПРОВЕРЕННАЯ ЗАЯВКА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057400"/>
            <a:ext cx="36393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/api/v1/requests/Z-1042/package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"request": "Z-1042",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"documents_confirmed",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"carrier": "Перевозчик А",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"rate": 85900,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"driver":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"fio": "Иванов Иван Иванович",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"birth_date": "1990-05-15",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"license": "9912345678"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"truck": { "plate": "А123ВС777"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"trailer": { "plate": "АВ123477"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"files": ["f-5531", "f-5532", "f-5533"]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РЕЕСТР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Реестр привлечённого транспорта: одна запись — один рейс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61289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Рейс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Номер заявки (сквозной), дата, направление, груз, тоннаж, окно погрузки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0138" y="1554480"/>
            <a:ext cx="261289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73018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660" y="18480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73018" y="2377440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Исполнитель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73018" y="274320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Перевозчик, водитель, ТС, прицеп — только из справочников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5916" y="1554480"/>
            <a:ext cx="261289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68796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38" y="18480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8796" y="2377440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Деньги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68796" y="274320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Стартовая и итоговая ставка, доплаты, простои, штрафы, счёт перевозчика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81694" y="1554480"/>
            <a:ext cx="261289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64574" y="1737360"/>
            <a:ext cx="502920" cy="5029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216" y="184800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4574" y="2377440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Документы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164574" y="274320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Пакет на пропуск, ЭТрН, акт, счёт — со ссылками на файлы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3858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СТАТУСЫ ЗАПИСИ — ПО ПОРЯДКУ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94360" y="4160520"/>
            <a:ext cx="1455039" cy="685800"/>
          </a:xfrm>
          <a:prstGeom prst="chevron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95528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Создана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957959" y="4160520"/>
            <a:ext cx="1455039" cy="685800"/>
          </a:xfrm>
          <a:prstGeom prst="chevron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2159127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Опубликована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21558" y="4160520"/>
            <a:ext cx="1455039" cy="685800"/>
          </a:xfrm>
          <a:prstGeom prst="chevron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3522726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Перевозчик выбран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685157" y="4160520"/>
            <a:ext cx="1455039" cy="685800"/>
          </a:xfrm>
          <a:prstGeom prst="chevron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4886325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Документы проверены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048756" y="4160520"/>
            <a:ext cx="1455039" cy="685800"/>
          </a:xfrm>
          <a:prstGeom prst="chevron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249924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Пропуск оформлен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412355" y="4160520"/>
            <a:ext cx="1455039" cy="685800"/>
          </a:xfrm>
          <a:prstGeom prst="chevron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613523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В пути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8775954" y="4160520"/>
            <a:ext cx="1455039" cy="685800"/>
          </a:xfrm>
          <a:prstGeom prst="chevron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977122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Выполнена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10139553" y="4160520"/>
            <a:ext cx="1455039" cy="6858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10340721" y="4160520"/>
            <a:ext cx="1089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Закрыта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594360" y="5074920"/>
            <a:ext cx="3544824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458968"/>
            <a:ext cx="365760" cy="36576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1325880" y="5074920"/>
            <a:ext cx="267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Документ «Заявка на привлечённый транспорт»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одна запись реестра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4322064" y="5074920"/>
            <a:ext cx="3544824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3232" y="5458968"/>
            <a:ext cx="365760" cy="36576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5053584" y="5074920"/>
            <a:ext cx="267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Регистр «Затраты по рейсам»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деньги по каждому рейсу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8049768" y="5074920"/>
            <a:ext cx="3544824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0936" y="5458968"/>
            <a:ext cx="365760" cy="36576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781288" y="5074920"/>
            <a:ext cx="267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Отчёты на конструкторе 1С (СКД)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без программиста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ТЕХНИЧЕСКАЯ БАЗА · РЕЕСТР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Как вести реестр, чтобы отчёты строились сами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6675120" cy="3703320"/>
          </a:xfrm>
          <a:prstGeom prst="roundRect">
            <a:avLst>
              <a:gd name="adj" fmla="val 197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ПРАВИЛА ВЕДЕНИЯ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996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Одна запись — одна машина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заказ на 140 т — это 7 записей по 20 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63347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60320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Номер заявки — сквозной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один и тот же в 1С, на площадке, в документах и счёте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6382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90672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Только справочники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перевозчик, направление, груз и тип ТС выбираются из списка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694176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2102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Статус — по факту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дальше нельзя без обязательных полей и документов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22452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151376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Деньги — по рейсу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ставка из торгов, доплаты и простои вносит логист, счёт привязан к рейсу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8172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Закрытие месяца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все рейсы месяца закрыты — отчёты сходятся с бухгалтерией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1554480"/>
            <a:ext cx="4096512" cy="3703320"/>
          </a:xfrm>
          <a:prstGeom prst="roundRect">
            <a:avLst>
              <a:gd name="adj" fmla="val 197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ОТЧЁТЫ ИЗ РЕЕСТРА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2057400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194" y="2145914"/>
            <a:ext cx="225308" cy="225308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8247888" y="205740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Затраты по перевозчикам, направлениям и периодам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26680" y="2679192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194" y="2767706"/>
            <a:ext cx="225308" cy="225308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247888" y="26791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Экономия торгов к стартовой ставке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726680" y="3300984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194" y="3389498"/>
            <a:ext cx="225308" cy="22530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247888" y="33009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Средняя ставка по направлению — в динамике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7726680" y="3922776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194" y="4011290"/>
            <a:ext cx="225308" cy="22530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247888" y="392277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История перевозчика: взято, выполнено, отказы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726680" y="4544568"/>
            <a:ext cx="402336" cy="40233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194" y="4633082"/>
            <a:ext cx="225308" cy="22530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247888" y="45445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Рейсы в работе: где сейчас каждая заявка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594360" y="5440680"/>
            <a:ext cx="11000232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673852"/>
            <a:ext cx="310896" cy="310896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307592" y="5513832"/>
            <a:ext cx="10058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С ЧЕГО НАЧАТЬ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1. Заполнить справочники  →  2. Перенести открытые заявки  →  3. Все новые заявки — только через реестр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ВНЕДРЕНИЕ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Порядок внедрения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053742" cy="3246120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ЭТАП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16879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Реестр и справочники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1–2 месяца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44368"/>
            <a:ext cx="16879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Документ заявки, статусы, справочники; перенос открытых заявок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Все заявки — в одном реестре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0982" y="1554480"/>
            <a:ext cx="2053742" cy="3246120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3862" y="173736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ЭТАП 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13862" y="1993392"/>
            <a:ext cx="16879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 1С и площадки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3862" y="256032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13862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3–4 недели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013862" y="2944368"/>
            <a:ext cx="16879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Методы обмена, расписание, журнал; проверка на копии базы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013862" y="402336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Данные ходят без ручного ввода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67605" y="1554480"/>
            <a:ext cx="2053742" cy="3246120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0485" y="173736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ЭТАП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250485" y="1993392"/>
            <a:ext cx="16879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Площадка и кабинет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50485" y="256032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50485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1–2 месяца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50485" y="2944368"/>
            <a:ext cx="16879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Доска заявок с фиксированной ставкой, кабинет агента, загрузка документов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50485" y="402336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Агенты берут заявки сами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04227" y="1554480"/>
            <a:ext cx="2053742" cy="3246120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87107" y="173736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ЭТАП 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87107" y="1993392"/>
            <a:ext cx="16879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Распознавание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87107" y="256032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87107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3–4 недели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87107" y="2944368"/>
            <a:ext cx="16879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PaddleOCR из коробки, шаблоны паспорта, ВУ и СТС, правила; проверка на 50–100 фото; пилот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87107" y="402336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Документы проверяются автоматически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40850" y="1554480"/>
            <a:ext cx="2053742" cy="3246120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3730" y="173736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ЭТАП 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723730" y="1993392"/>
            <a:ext cx="16879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Торги и отчёты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23730" y="256032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2373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после пилота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723730" y="2944368"/>
            <a:ext cx="16879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Торги, документы по шаблонам, ЭТрН из 1С, отчёты по реестру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723730" y="4023360"/>
            <a:ext cx="1687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Система в полном объёме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" y="4983480"/>
            <a:ext cx="11000232" cy="1216152"/>
          </a:xfrm>
          <a:prstGeom prst="roundRect">
            <a:avLst>
              <a:gd name="adj" fmla="val 6015"/>
            </a:avLst>
          </a:prstGeom>
          <a:solidFill>
            <a:schemeClr val="accent2">
              <a:alpha val="14000"/>
            </a:schemeClr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431536"/>
            <a:ext cx="329184" cy="329184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280160" y="4983480"/>
            <a:ext cx="100584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Реестр — первым: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 нём держатся API, площадка, документы и отчёты. Этапы 2 и 3 идут параллельно. Торги включаем после пилота, когда накопится история ставок. Сроки ориентировочные.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ПРИЛОЖЕНИЕ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Защита персональных данных водителей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7086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74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Требование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Как выполняем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Где обрабатываются данные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Нейросеть и 1С — внутри завода; платформа — на сервере завода, вход только для перевозчиков с договором; внешние сервисы распознавания не используются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Основание обработки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Условие в договоре с перевозчиком и согласие водителя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Объём данных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Только нужные страницы документов (ПДн не должны быть избыточными, ч. 5 ст. 5 152-ФЗ)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Доступ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Документы водителей видит только их компания; логист и администратор — по ролям; журнал действий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Хранение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Срок хранения изображений — по регламенту СБ, затем удаление; сканы больше не лежат в почте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600200"/>
            <a:ext cx="3593592" cy="4572000"/>
          </a:xfrm>
          <a:prstGeom prst="roundRect">
            <a:avLst>
              <a:gd name="adj" fmla="val 2036"/>
            </a:avLst>
          </a:prstGeom>
          <a:solidFill>
            <a:schemeClr val="tx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ШТРАФЫ С 30.05.2025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24231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3–15 млн руб.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за первую утечку — в зависимости от числа людей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1–3% выручки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за повторную, от 20 до 500 млн руб.</a:t>
            </a:r>
            <a:endParaRPr lang="en-US" sz="1200" dirty="0"/>
          </a:p>
        </p:txBody>
      </p:sp>
      <p:pic>
        <p:nvPicPr>
          <p:cNvPr id="9" name="Image 1" descr="C:\Users\AUSU\AppData\Local\Temp\claude\C--Users-AUSU-AppData-Roaming-Claude-scratch-workspaces-df4f2ee2-a8e1-461b-99f8-8cb626bf5d2c-1a6b44f4-be1d-4046-a9de-d7401fd383dd-scratch-2026-10-17-758bbc\5dc94fe1-9a32-48b5-89fc-3a130279f71f\scratchpad\build\assets\image-1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800600"/>
            <a:ext cx="1143000" cy="1143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555480" y="4846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ст. 13.11 КоАП, 420-ФЗ · buh.ru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ПРИЛОЖЕНИЕ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Риски и меры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002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833872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Риск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Мера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Ответственные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Перевозчики продолжат присылать данные на почту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Условие в договоре: заявки и данные — только через площадку; простой интерфейс и шаблон проформы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Логистика, юрист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Отказ перевозчика после победы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Порядок отказа — в договоре; заявка возвращается на площадку; логист видит историю взятых заявок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Логистика, юрист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Нет ставок по заявке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Повышение стартовой ставки или прямое предложение перевозчику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Логистика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Ошибки распознавания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Четыре статуса проверки; при низкой уверенности — повторная загрузка или человек; финальное подтверждение — логист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ИТ, логистика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Недостаточное качество распознавания на реальных фото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Проверка на 50–100 реальных документах; при нехватке — дообучение или готовое SDK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ИТ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Доступ внешних агентов к платформе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Закрытая площадка: доступ выдаётся только перевозчикам с договором; без доступа к 1С и внутренней сети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ИТ, СБ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Нетиповая конфигурация 1С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Настройка модуля Контура для нетиповых — 5 490 руб./ч; доработки — программист 1С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ИТ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Нехватка ресурсов ИТ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Поэтапный запуск; при необходимости — подрядчик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Руководитель проекта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Нагрузка в переходный период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Пилот на одном направлении, обучение, регламент работы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Руководитель проекта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ПРИЛОЖЕНИЕ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Ресурсы и бюджет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002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Статья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Оценка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Модуль «Логистика.Про» (Контур)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ЭТрН и заказ-заявки из 1С:ERP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19 700 руб. в год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Настройка модуля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Услуга Контура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37 515 руб. — типовая; 5 490 руб./ч — нетиповая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Программист 1С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Справочник, шаблоны, пакет на пропуск, приём данных с платформы, отчёт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по смете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Разработка площадки и проверки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Доска заявок и торги, кабинет агента, импорт Excel, шаблоны документов и правила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по смете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Лицензия SDK (если вариант «купить»)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Распознавание паспорта РФ, ВУ и СТС с локальной установкой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по запросу у производителя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Сервер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Распознавание: 8 ядер, 32 ГБ ОЗУ; видеокарта не обязательна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по смете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Время логистики и ИТ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Наполнение справочников, сбор фото для проверки, пилот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внутренние ресурсы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80644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Цены Контура — kontur.ru/logistika/1c, октябрь 2026. Остальные оценки — после выбора исполнителя.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ПРИЛОЖЕНИЕ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676656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Источники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" y="160020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Image 0" descr="C:\Users\AUSU\AppData\Local\Temp\claude\C--Users-AUSU-AppData-Roaming-Claude-scratch-workspaces-df4f2ee2-a8e1-461b-99f8-8cb626bf5d2c-1a6b44f4-be1d-4046-a9de-d7401fd383dd-scratch-2026-10-17-758bbc\5dc94fe1-9a32-48b5-89fc-3a130279f71f\scratchpad\build\assets\image-1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1737360"/>
            <a:ext cx="1024128" cy="1024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05256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Законы об ЭПД: 140-ФЗ, 259-ФЗ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kontur.ru/logistika/law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62656" y="160020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8" name="Image 1" descr="C:\Users\AUSU\AppData\Local\Temp\claude\C--Users-AUSU-AppData-Roaming-Claude-scratch-workspaces-df4f2ee2-a8e1-461b-99f8-8cb626bf5d2c-1a6b44f4-be1d-4046-a9de-d7401fd383dd-scratch-2026-10-17-758bbc\5dc94fe1-9a32-48b5-89fc-3a130279f71f\scratchpad\build\assets\image-17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737360"/>
            <a:ext cx="1024128" cy="10241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54096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Минтранс: буклет об ЭПД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mintrans.gov.ru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111496" y="160020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1" name="Image 2" descr="C:\Users\AUSU\AppData\Local\Temp\claude\C--Users-AUSU-AppData-Roaming-Claude-scratch-workspaces-df4f2ee2-a8e1-461b-99f8-8cb626bf5d2c-1a6b44f4-be1d-4046-a9de-d7401fd383dd-scratch-2026-10-17-758bbc\5dc94fe1-9a32-48b5-89fc-3a130279f71f\scratchpad\build\assets\image-17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737360"/>
            <a:ext cx="1024128" cy="10241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02936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Кто обязан применять ЭТрН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nalog-nalog.ru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260336" y="160020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Image 3" descr="C:\Users\AUSU\AppData\Local\Temp\claude\C--Users-AUSU-AppData-Roaming-Claude-scratch-workspaces-df4f2ee2-a8e1-461b-99f8-8cb626bf5d2c-1a6b44f4-be1d-4046-a9de-d7401fd383dd-scratch-2026-10-17-758bbc\5dc94fe1-9a32-48b5-89fc-3a130279f71f\scratchpad\build\assets\image-17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737360"/>
            <a:ext cx="1024128" cy="102412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351776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Модули Контур.Логистика для 1С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kontur.ru/logistika/1c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9409176" y="160020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7" name="Image 4" descr="C:\Users\AUSU\AppData\Local\Temp\claude\C--Users-AUSU-AppData-Roaming-Claude-scratch-workspaces-df4f2ee2-a8e1-461b-99f8-8cb626bf5d2c-1a6b44f4-be1d-4046-a9de-d7401fd383dd-scratch-2026-10-17-758bbc\5dc94fe1-9a32-48b5-89fc-3a130279f71f\scratchpad\build\assets\image-17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4" y="1737360"/>
            <a:ext cx="1024128" cy="102412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500616" y="2834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Документация 1С:ERP 2.5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its.1c.ru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813816" y="379476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5" descr="C:\Users\AUSU\AppData\Local\Temp\claude\C--Users-AUSU-AppData-Roaming-Claude-scratch-workspaces-df4f2ee2-a8e1-461b-99f8-8cb626bf5d2c-1a6b44f4-be1d-4046-a9de-d7401fd383dd-scratch-2026-10-17-758bbc\5dc94fe1-9a32-48b5-89fc-3a130279f71f\scratchpad\build\assets\image-17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304" y="3931920"/>
            <a:ext cx="1024128" cy="102412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05256" y="5029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Обмен EnterpriseData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its.1c.ru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2962656" y="379476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3" name="Image 6" descr="C:\Users\AUSU\AppData\Local\Temp\claude\C--Users-AUSU-AppData-Roaming-Claude-scratch-workspaces-df4f2ee2-a8e1-461b-99f8-8cb626bf5d2c-1a6b44f4-be1d-4046-a9de-d7401fd383dd-scratch-2026-10-17-758bbc\5dc94fe1-9a32-48b5-89fc-3a130279f71f\scratchpad\build\assets\image-17-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931920"/>
            <a:ext cx="1024128" cy="102412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3054096" y="5029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PaddleOCR: нейросеть, кириллица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paddleocr.ai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111496" y="379476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6" name="Image 7" descr="C:\Users\AUSU\AppData\Local\Temp\claude\C--Users-AUSU-AppData-Roaming-Claude-scratch-workspaces-df4f2ee2-a8e1-461b-99f8-8cb626bf5d2c-1a6b44f4-be1d-4046-a9de-d7401fd383dd-scratch-2026-10-17-758bbc\5dc94fe1-9a32-48b5-89fc-3a130279f71f\scratchpad\build\assets\image-17-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6984" y="3931920"/>
            <a:ext cx="1024128" cy="102412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202936" y="5029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Smart Engines: распознавание документов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smartengines.ru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7260336" y="379476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9" name="Image 8" descr="C:\Users\AUSU\AppData\Local\Temp\claude\C--Users-AUSU-AppData-Roaming-Claude-scratch-workspaces-df4f2ee2-a8e1-461b-99f8-8cb626bf5d2c-1a6b44f4-be1d-4046-a9de-d7401fd383dd-scratch-2026-10-17-758bbc\5dc94fe1-9a32-48b5-89fc-3a130279f71f\scratchpad\build\assets\image-17-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824" y="3931920"/>
            <a:ext cx="1024128" cy="102412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351776" y="5029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Штрафы за утечку ПДн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buh.ru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ЭМЗ Логистика">
  <a:themeElements>
    <a:clrScheme name="АЭМЗ Логистика">
      <a:dk1>
        <a:srgbClr val="111827"/>
      </a:dk1>
      <a:lt1>
        <a:srgbClr val="FFFFFF"/>
      </a:lt1>
      <a:dk2>
        <a:srgbClr val="6B7280"/>
      </a:dk2>
      <a:lt2>
        <a:srgbClr val="F3F5F8"/>
      </a:lt2>
      <a:accent1>
        <a:srgbClr val="1D4ED8"/>
      </a:accent1>
      <a:accent2>
        <a:srgbClr val="60A5FA"/>
      </a:accent2>
      <a:accent3>
        <a:srgbClr val="B91C1C"/>
      </a:accent3>
      <a:accent4>
        <a:srgbClr val="15803D"/>
      </a:accent4>
      <a:accent5>
        <a:srgbClr val="B45309"/>
      </a:accent5>
      <a:accent6>
        <a:srgbClr val="E5E7EB"/>
      </a:accent6>
      <a:hlink>
        <a:srgbClr val="1D4ED8"/>
      </a:hlink>
      <a:folHlink>
        <a:srgbClr val="6B7280"/>
      </a:folHlink>
    </a:clrScheme>
    <a:fontScheme name="АЭМЗ Логистика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АЭМЗ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работы с привлечённым транспортом</dc:title>
  <dc:subject>PptxGenJS Presentation</dc:subject>
  <dc:creator>Котельников Р. С.</dc:creator>
  <cp:lastModifiedBy>Котельников Р. С.</cp:lastModifiedBy>
  <cp:revision>1</cp:revision>
  <dcterms:created xsi:type="dcterms:W3CDTF">2026-10-18T13:52:22Z</dcterms:created>
  <dcterms:modified xsi:type="dcterms:W3CDTF">2026-10-18T13:52:22Z</dcterms:modified>
</cp:coreProperties>
</file>